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Lst>
  <p:sldSz cy="5143500" cx="9144000"/>
  <p:notesSz cx="6858000" cy="9144000"/>
  <p:embeddedFontLst>
    <p:embeddedFont>
      <p:font typeface="Raleway"/>
      <p:regular r:id="rId35"/>
      <p:bold r:id="rId36"/>
      <p:italic r:id="rId37"/>
      <p:boldItalic r:id="rId38"/>
    </p:embeddedFont>
    <p:embeddedFont>
      <p:font typeface="Inconsolata"/>
      <p:regular r:id="rId39"/>
      <p:bold r:id="rId40"/>
    </p:embeddedFont>
    <p:embeddedFont>
      <p:font typeface="Lato"/>
      <p:regular r:id="rId41"/>
      <p:bold r:id="rId42"/>
      <p:italic r:id="rId43"/>
      <p:boldItalic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Inconsolata-bold.fntdata"/><Relationship Id="rId20" Type="http://schemas.openxmlformats.org/officeDocument/2006/relationships/slide" Target="slides/slide15.xml"/><Relationship Id="rId42" Type="http://schemas.openxmlformats.org/officeDocument/2006/relationships/font" Target="fonts/Lato-bold.fntdata"/><Relationship Id="rId41" Type="http://schemas.openxmlformats.org/officeDocument/2006/relationships/font" Target="fonts/Lato-regular.fntdata"/><Relationship Id="rId22" Type="http://schemas.openxmlformats.org/officeDocument/2006/relationships/slide" Target="slides/slide17.xml"/><Relationship Id="rId44" Type="http://schemas.openxmlformats.org/officeDocument/2006/relationships/font" Target="fonts/Lato-boldItalic.fntdata"/><Relationship Id="rId21" Type="http://schemas.openxmlformats.org/officeDocument/2006/relationships/slide" Target="slides/slide16.xml"/><Relationship Id="rId43" Type="http://schemas.openxmlformats.org/officeDocument/2006/relationships/font" Target="fonts/Lato-italic.fntdata"/><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Raleway-regular.fntdata"/><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Raleway-italic.fntdata"/><Relationship Id="rId14" Type="http://schemas.openxmlformats.org/officeDocument/2006/relationships/slide" Target="slides/slide9.xml"/><Relationship Id="rId36" Type="http://schemas.openxmlformats.org/officeDocument/2006/relationships/font" Target="fonts/Raleway-bold.fntdata"/><Relationship Id="rId17" Type="http://schemas.openxmlformats.org/officeDocument/2006/relationships/slide" Target="slides/slide12.xml"/><Relationship Id="rId39" Type="http://schemas.openxmlformats.org/officeDocument/2006/relationships/font" Target="fonts/Inconsolata-regular.fntdata"/><Relationship Id="rId16" Type="http://schemas.openxmlformats.org/officeDocument/2006/relationships/slide" Target="slides/slide11.xml"/><Relationship Id="rId38" Type="http://schemas.openxmlformats.org/officeDocument/2006/relationships/font" Target="fonts/Raleway-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1257277e03f_0_3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1257277e03f_0_3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1257277e03f_0_3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1257277e03f_0_3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1257277e03f_0_5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1257277e03f_0_5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1257277e03f_0_5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1257277e03f_0_5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1257277e03f_0_5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1257277e03f_0_5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1257277e03f_0_5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1257277e03f_0_5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1257277e03f_0_4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1257277e03f_0_4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1257277e03f_0_5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1257277e03f_0_5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1257277e03f_0_5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1257277e03f_0_5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1257277e03f_0_5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1257277e03f_0_5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1257277e03f_0_5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1257277e03f_0_5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1257277e03f_0_4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1257277e03f_0_4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1257277e03f_0_5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1257277e03f_0_5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1257277e03f_0_3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1257277e03f_0_3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1257277e03f_0_5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1257277e03f_0_5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1257277e03f_0_5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1257277e03f_0_5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1257277e03f_0_5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1257277e03f_0_5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1257277e03f_0_5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1257277e03f_0_5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1257277e03f_0_6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1257277e03f_0_6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1257277e03f_0_4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1257277e03f_0_4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1257277e03f_0_4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1257277e03f_0_4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1257277e03f_0_4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1257277e03f_0_4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1257277e03f_0_4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1257277e03f_0_4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1257277e03f_0_4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1257277e03f_0_4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1257277e03f_0_4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1257277e03f_0_4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1257277e03f_0_5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1257277e03f_0_5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1257277e03f_0_4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1257277e03f_0_4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1257277e03f_0_5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1257277e03f_0_5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6560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1359500"/>
            <a:ext cx="7688700" cy="2980500"/>
          </a:xfrm>
          <a:prstGeom prst="rect">
            <a:avLst/>
          </a:prstGeom>
        </p:spPr>
        <p:txBody>
          <a:bodyPr anchorCtr="0" anchor="t" bIns="91425" lIns="91425" spcFirstLastPara="1" rIns="91425" wrap="square" tIns="91425">
            <a:normAutofit/>
          </a:bodyPr>
          <a:lstStyle>
            <a:lvl1pPr indent="-323850" lvl="0" marL="457200">
              <a:spcBef>
                <a:spcPts val="0"/>
              </a:spcBef>
              <a:spcAft>
                <a:spcPts val="0"/>
              </a:spcAft>
              <a:buSzPts val="1500"/>
              <a:buChar char="●"/>
              <a:defRPr sz="1500"/>
            </a:lvl1pPr>
            <a:lvl2pPr indent="-311150" lvl="1" marL="914400">
              <a:spcBef>
                <a:spcPts val="0"/>
              </a:spcBef>
              <a:spcAft>
                <a:spcPts val="0"/>
              </a:spcAft>
              <a:buSzPts val="1300"/>
              <a:buChar char="○"/>
              <a:defRPr sz="1300"/>
            </a:lvl2pPr>
            <a:lvl3pPr indent="-311150" lvl="2" marL="1371600">
              <a:spcBef>
                <a:spcPts val="0"/>
              </a:spcBef>
              <a:spcAft>
                <a:spcPts val="0"/>
              </a:spcAft>
              <a:buSzPts val="1300"/>
              <a:buChar char="■"/>
              <a:defRPr sz="1300"/>
            </a:lvl3pPr>
            <a:lvl4pPr indent="-311150" lvl="3" marL="1828800">
              <a:spcBef>
                <a:spcPts val="0"/>
              </a:spcBef>
              <a:spcAft>
                <a:spcPts val="0"/>
              </a:spcAft>
              <a:buSzPts val="1300"/>
              <a:buChar char="●"/>
              <a:defRPr sz="1300"/>
            </a:lvl4pPr>
            <a:lvl5pPr indent="-311150" lvl="4" marL="2286000">
              <a:spcBef>
                <a:spcPts val="0"/>
              </a:spcBef>
              <a:spcAft>
                <a:spcPts val="0"/>
              </a:spcAft>
              <a:buSzPts val="1300"/>
              <a:buChar char="○"/>
              <a:defRPr sz="1300"/>
            </a:lvl5pPr>
            <a:lvl6pPr indent="-311150" lvl="5" marL="2743200">
              <a:spcBef>
                <a:spcPts val="0"/>
              </a:spcBef>
              <a:spcAft>
                <a:spcPts val="0"/>
              </a:spcAft>
              <a:buSzPts val="1300"/>
              <a:buChar char="■"/>
              <a:defRPr sz="1300"/>
            </a:lvl6pPr>
            <a:lvl7pPr indent="-311150" lvl="6" marL="3200400">
              <a:spcBef>
                <a:spcPts val="0"/>
              </a:spcBef>
              <a:spcAft>
                <a:spcPts val="0"/>
              </a:spcAft>
              <a:buSzPts val="1300"/>
              <a:buChar char="●"/>
              <a:defRPr sz="1300"/>
            </a:lvl7pPr>
            <a:lvl8pPr indent="-311150" lvl="7" marL="3657600">
              <a:spcBef>
                <a:spcPts val="0"/>
              </a:spcBef>
              <a:spcAft>
                <a:spcPts val="0"/>
              </a:spcAft>
              <a:buSzPts val="1300"/>
              <a:buChar char="○"/>
              <a:defRPr sz="1300"/>
            </a:lvl8pPr>
            <a:lvl9pPr indent="-311150" lvl="8" marL="4114800">
              <a:spcBef>
                <a:spcPts val="0"/>
              </a:spcBef>
              <a:spcAft>
                <a:spcPts val="0"/>
              </a:spcAft>
              <a:buSzPts val="1300"/>
              <a:buChar char="■"/>
              <a:defRPr sz="1300"/>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7800" y="6560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1359500"/>
            <a:ext cx="3774300" cy="2980500"/>
          </a:xfrm>
          <a:prstGeom prst="rect">
            <a:avLst/>
          </a:prstGeom>
        </p:spPr>
        <p:txBody>
          <a:bodyPr anchorCtr="0" anchor="t" bIns="91425" lIns="91425" spcFirstLastPara="1" rIns="91425" wrap="square" tIns="91425">
            <a:normAutofit/>
          </a:bodyPr>
          <a:lstStyle>
            <a:lvl1pPr indent="-323850" lvl="0" marL="457200">
              <a:spcBef>
                <a:spcPts val="0"/>
              </a:spcBef>
              <a:spcAft>
                <a:spcPts val="0"/>
              </a:spcAft>
              <a:buSzPts val="1500"/>
              <a:buChar char="●"/>
              <a:defRPr sz="1500"/>
            </a:lvl1pPr>
            <a:lvl2pPr indent="-311150" lvl="1" marL="914400">
              <a:spcBef>
                <a:spcPts val="0"/>
              </a:spcBef>
              <a:spcAft>
                <a:spcPts val="0"/>
              </a:spcAft>
              <a:buSzPts val="1300"/>
              <a:buChar char="○"/>
              <a:defRPr sz="1300"/>
            </a:lvl2pPr>
            <a:lvl3pPr indent="-311150" lvl="2" marL="1371600">
              <a:spcBef>
                <a:spcPts val="0"/>
              </a:spcBef>
              <a:spcAft>
                <a:spcPts val="0"/>
              </a:spcAft>
              <a:buSzPts val="1300"/>
              <a:buChar char="■"/>
              <a:defRPr sz="1300"/>
            </a:lvl3pPr>
            <a:lvl4pPr indent="-311150" lvl="3" marL="1828800">
              <a:spcBef>
                <a:spcPts val="0"/>
              </a:spcBef>
              <a:spcAft>
                <a:spcPts val="0"/>
              </a:spcAft>
              <a:buSzPts val="1300"/>
              <a:buChar char="●"/>
              <a:defRPr sz="1300"/>
            </a:lvl4pPr>
            <a:lvl5pPr indent="-311150" lvl="4" marL="2286000">
              <a:spcBef>
                <a:spcPts val="0"/>
              </a:spcBef>
              <a:spcAft>
                <a:spcPts val="0"/>
              </a:spcAft>
              <a:buSzPts val="1300"/>
              <a:buChar char="○"/>
              <a:defRPr sz="1300"/>
            </a:lvl5pPr>
            <a:lvl6pPr indent="-311150" lvl="5" marL="2743200">
              <a:spcBef>
                <a:spcPts val="0"/>
              </a:spcBef>
              <a:spcAft>
                <a:spcPts val="0"/>
              </a:spcAft>
              <a:buSzPts val="1300"/>
              <a:buChar char="■"/>
              <a:defRPr sz="1300"/>
            </a:lvl6pPr>
            <a:lvl7pPr indent="-311150" lvl="6" marL="3200400">
              <a:spcBef>
                <a:spcPts val="0"/>
              </a:spcBef>
              <a:spcAft>
                <a:spcPts val="0"/>
              </a:spcAft>
              <a:buSzPts val="1300"/>
              <a:buChar char="●"/>
              <a:defRPr sz="1300"/>
            </a:lvl7pPr>
            <a:lvl8pPr indent="-311150" lvl="7" marL="3657600">
              <a:spcBef>
                <a:spcPts val="0"/>
              </a:spcBef>
              <a:spcAft>
                <a:spcPts val="0"/>
              </a:spcAft>
              <a:buSzPts val="1300"/>
              <a:buChar char="○"/>
              <a:defRPr sz="1300"/>
            </a:lvl8pPr>
            <a:lvl9pPr indent="-311150" lvl="8" marL="4114800">
              <a:spcBef>
                <a:spcPts val="0"/>
              </a:spcBef>
              <a:spcAft>
                <a:spcPts val="0"/>
              </a:spcAft>
              <a:buSzPts val="1300"/>
              <a:buChar char="■"/>
              <a:defRPr sz="1300"/>
            </a:lvl9pPr>
          </a:lstStyle>
          <a:p/>
        </p:txBody>
      </p:sp>
      <p:sp>
        <p:nvSpPr>
          <p:cNvPr id="38" name="Google Shape;38;p5"/>
          <p:cNvSpPr txBox="1"/>
          <p:nvPr>
            <p:ph idx="2" type="body"/>
          </p:nvPr>
        </p:nvSpPr>
        <p:spPr>
          <a:xfrm>
            <a:off x="4643602" y="1359500"/>
            <a:ext cx="3774300" cy="2980500"/>
          </a:xfrm>
          <a:prstGeom prst="rect">
            <a:avLst/>
          </a:prstGeom>
        </p:spPr>
        <p:txBody>
          <a:bodyPr anchorCtr="0" anchor="t" bIns="91425" lIns="91425" spcFirstLastPara="1" rIns="91425" wrap="square" tIns="91425">
            <a:normAutofit/>
          </a:bodyPr>
          <a:lstStyle>
            <a:lvl1pPr indent="-323850" lvl="0" marL="457200">
              <a:spcBef>
                <a:spcPts val="0"/>
              </a:spcBef>
              <a:spcAft>
                <a:spcPts val="0"/>
              </a:spcAft>
              <a:buSzPts val="1500"/>
              <a:buChar char="●"/>
              <a:defRPr sz="1500"/>
            </a:lvl1pPr>
            <a:lvl2pPr indent="-311150" lvl="1" marL="914400">
              <a:spcBef>
                <a:spcPts val="0"/>
              </a:spcBef>
              <a:spcAft>
                <a:spcPts val="0"/>
              </a:spcAft>
              <a:buSzPts val="1300"/>
              <a:buChar char="○"/>
              <a:defRPr sz="1300"/>
            </a:lvl2pPr>
            <a:lvl3pPr indent="-311150" lvl="2" marL="1371600">
              <a:spcBef>
                <a:spcPts val="0"/>
              </a:spcBef>
              <a:spcAft>
                <a:spcPts val="0"/>
              </a:spcAft>
              <a:buSzPts val="1300"/>
              <a:buChar char="■"/>
              <a:defRPr sz="1300"/>
            </a:lvl3pPr>
            <a:lvl4pPr indent="-311150" lvl="3" marL="1828800">
              <a:spcBef>
                <a:spcPts val="0"/>
              </a:spcBef>
              <a:spcAft>
                <a:spcPts val="0"/>
              </a:spcAft>
              <a:buSzPts val="1300"/>
              <a:buChar char="●"/>
              <a:defRPr sz="1300"/>
            </a:lvl4pPr>
            <a:lvl5pPr indent="-311150" lvl="4" marL="2286000">
              <a:spcBef>
                <a:spcPts val="0"/>
              </a:spcBef>
              <a:spcAft>
                <a:spcPts val="0"/>
              </a:spcAft>
              <a:buSzPts val="1300"/>
              <a:buChar char="○"/>
              <a:defRPr sz="1300"/>
            </a:lvl5pPr>
            <a:lvl6pPr indent="-311150" lvl="5" marL="2743200">
              <a:spcBef>
                <a:spcPts val="0"/>
              </a:spcBef>
              <a:spcAft>
                <a:spcPts val="0"/>
              </a:spcAft>
              <a:buSzPts val="1300"/>
              <a:buChar char="■"/>
              <a:defRPr sz="1300"/>
            </a:lvl6pPr>
            <a:lvl7pPr indent="-311150" lvl="6" marL="3200400">
              <a:spcBef>
                <a:spcPts val="0"/>
              </a:spcBef>
              <a:spcAft>
                <a:spcPts val="0"/>
              </a:spcAft>
              <a:buSzPts val="1300"/>
              <a:buChar char="●"/>
              <a:defRPr sz="1300"/>
            </a:lvl7pPr>
            <a:lvl8pPr indent="-311150" lvl="7" marL="3657600">
              <a:spcBef>
                <a:spcPts val="0"/>
              </a:spcBef>
              <a:spcAft>
                <a:spcPts val="0"/>
              </a:spcAft>
              <a:buSzPts val="1300"/>
              <a:buChar char="○"/>
              <a:defRPr sz="1300"/>
            </a:lvl8pPr>
            <a:lvl9pPr indent="-311150" lvl="8" marL="4114800">
              <a:spcBef>
                <a:spcPts val="0"/>
              </a:spcBef>
              <a:spcAft>
                <a:spcPts val="0"/>
              </a:spcAft>
              <a:buSzPts val="1300"/>
              <a:buChar char="■"/>
              <a:defRPr sz="1300"/>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6560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mailto:pshah129@hawk.iit.edu" TargetMode="External"/><Relationship Id="rId4" Type="http://schemas.openxmlformats.org/officeDocument/2006/relationships/hyperlink" Target="mailto:wbodell@hawk.iit.edu"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1.png"/><Relationship Id="rId6"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1.png"/><Relationship Id="rId6"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hyperlink" Target="https://www.benzinga.com/markets/cryptocurrency/21/12/24562022/indian-prime-minister-modis-twitter-handle-hacked-falsely-proclaims-india-has-officially-a" TargetMode="External"/><Relationship Id="rId4" Type="http://schemas.openxmlformats.org/officeDocument/2006/relationships/hyperlink" Target="https://www.firstpost.com/india/pm-narendra-modis-personal-twitter-handle-very-briefly-compromised-later-secured-pmo-10204501.html" TargetMode="External"/><Relationship Id="rId5" Type="http://schemas.openxmlformats.org/officeDocument/2006/relationships/hyperlink" Target="https://www.thehindu.com/news/national/pm-modis-twitter-handle-very-briefly-compromised-later-secured-pmo/article37937402.ece"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hyperlink" Target="https://corporate.walmart.com/newsroom/2021/09/13/walmart-statement-in-response-to-fake-litecoin-press-release" TargetMode="External"/><Relationship Id="rId4" Type="http://schemas.openxmlformats.org/officeDocument/2006/relationships/hyperlink" Target="https://www.cnbc.com/2021/09/13/walmart-to-accept-payments-with-cryptocurrencies-using-litecoin.html" TargetMode="External"/><Relationship Id="rId5" Type="http://schemas.openxmlformats.org/officeDocument/2006/relationships/hyperlink" Target="https://www.newsweek.com/fake-announcement-that-walmart-will-accept-litecoin-cryptocurrency-sends-stock-soaring-1628492"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hyperlink" Target="https://www.bitcoininsider.org/article/159867/metamask-expands-institutional-offering-integrating-new-crypto-custodians" TargetMode="External"/><Relationship Id="rId4" Type="http://schemas.openxmlformats.org/officeDocument/2006/relationships/hyperlink" Target="https://coinquora.com/metamask-integrates-with-crypto-custodians-to-expand-offerings/" TargetMode="External"/><Relationship Id="rId5" Type="http://schemas.openxmlformats.org/officeDocument/2006/relationships/hyperlink" Target="https://it.advfn.com/mercati/COIN/BTCUSD/crypto-news/87824170/metamask-expands-institutional-offering-by-integra"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hyperlink" Target="https://cointelegraph.com/news/indicators-flash-bullish-on-coti-ahead-of-its-mainnet-and-djed-stablecoin-launch" TargetMode="External"/><Relationship Id="rId4" Type="http://schemas.openxmlformats.org/officeDocument/2006/relationships/hyperlink" Target="https://bitcoinfeed.xyz/tag/markets-pro/" TargetMode="External"/><Relationship Id="rId5" Type="http://schemas.openxmlformats.org/officeDocument/2006/relationships/hyperlink" Target="https://www.ehtrend.com.br/en/tt/7402224/revenue.html"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600"/>
              <a:t>Evidence-enhanced </a:t>
            </a:r>
            <a:r>
              <a:rPr lang="en" sz="3600"/>
              <a:t>Detection of </a:t>
            </a:r>
            <a:r>
              <a:rPr lang="en" sz="3600"/>
              <a:t>Disinformation in Crypto News</a:t>
            </a:r>
            <a:endParaRPr sz="3600"/>
          </a:p>
        </p:txBody>
      </p:sp>
      <p:sp>
        <p:nvSpPr>
          <p:cNvPr id="87" name="Google Shape;87;p13"/>
          <p:cNvSpPr txBox="1"/>
          <p:nvPr>
            <p:ph idx="1" type="subTitle"/>
          </p:nvPr>
        </p:nvSpPr>
        <p:spPr>
          <a:xfrm>
            <a:off x="729625" y="2571750"/>
            <a:ext cx="7688100" cy="11424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CS 597: Online Social Network Analysis</a:t>
            </a:r>
            <a:endParaRPr/>
          </a:p>
          <a:p>
            <a:pPr indent="0" lvl="0" marL="0" rtl="0" algn="l">
              <a:spcBef>
                <a:spcPts val="0"/>
              </a:spcBef>
              <a:spcAft>
                <a:spcPts val="0"/>
              </a:spcAft>
              <a:buNone/>
            </a:pPr>
            <a:r>
              <a:rPr lang="en"/>
              <a:t>Spring 2022 </a:t>
            </a:r>
            <a:endParaRPr/>
          </a:p>
          <a:p>
            <a:pPr indent="0" lvl="0" marL="0" rtl="0" algn="l">
              <a:spcBef>
                <a:spcPts val="0"/>
              </a:spcBef>
              <a:spcAft>
                <a:spcPts val="0"/>
              </a:spcAft>
              <a:buNone/>
            </a:pPr>
            <a:r>
              <a:rPr lang="en"/>
              <a:t>Final project by:</a:t>
            </a:r>
            <a:endParaRPr/>
          </a:p>
          <a:p>
            <a:pPr indent="0" lvl="0" marL="0" rtl="0" algn="l">
              <a:spcBef>
                <a:spcPts val="0"/>
              </a:spcBef>
              <a:spcAft>
                <a:spcPts val="0"/>
              </a:spcAft>
              <a:buNone/>
            </a:pPr>
            <a:r>
              <a:rPr lang="en"/>
              <a:t>Priyam Dinesh Shah (</a:t>
            </a:r>
            <a:r>
              <a:rPr lang="en" u="sng">
                <a:solidFill>
                  <a:schemeClr val="hlink"/>
                </a:solidFill>
                <a:hlinkClick r:id="rId3"/>
              </a:rPr>
              <a:t>pshah129@hawk.iit.edu</a:t>
            </a:r>
            <a:r>
              <a:rPr lang="en"/>
              <a:t>), </a:t>
            </a:r>
            <a:endParaRPr/>
          </a:p>
          <a:p>
            <a:pPr indent="0" lvl="0" marL="0" rtl="0" algn="l">
              <a:spcBef>
                <a:spcPts val="0"/>
              </a:spcBef>
              <a:spcAft>
                <a:spcPts val="0"/>
              </a:spcAft>
              <a:buNone/>
            </a:pPr>
            <a:r>
              <a:rPr lang="en"/>
              <a:t>William Edward Bodell III (</a:t>
            </a:r>
            <a:r>
              <a:rPr lang="en" u="sng">
                <a:solidFill>
                  <a:schemeClr val="hlink"/>
                </a:solidFill>
                <a:hlinkClick r:id="rId4"/>
              </a:rPr>
              <a:t>wbodell@hawk.iit.edu</a:t>
            </a:r>
            <a:r>
              <a:rPr lang="en"/>
              <a: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type="title"/>
          </p:nvPr>
        </p:nvSpPr>
        <p:spPr>
          <a:xfrm>
            <a:off x="729450" y="864300"/>
            <a:ext cx="7263900" cy="29850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sz="4044" u="sng"/>
              <a:t>Problem statement:</a:t>
            </a:r>
            <a:endParaRPr sz="4044" u="sng"/>
          </a:p>
          <a:p>
            <a:pPr indent="0" lvl="0" marL="0" rtl="0" algn="l">
              <a:spcBef>
                <a:spcPts val="0"/>
              </a:spcBef>
              <a:spcAft>
                <a:spcPts val="0"/>
              </a:spcAft>
              <a:buNone/>
            </a:pPr>
            <a:r>
              <a:rPr lang="en" sz="3377"/>
              <a:t>Crypto has a fake news problem. </a:t>
            </a:r>
            <a:r>
              <a:rPr b="0" lang="en" sz="3377"/>
              <a:t>Given the rate </a:t>
            </a:r>
            <a:r>
              <a:rPr b="0" lang="en" sz="3377"/>
              <a:t>at which new </a:t>
            </a:r>
            <a:r>
              <a:rPr b="0" lang="en" sz="3377"/>
              <a:t>information disseminat</a:t>
            </a:r>
            <a:r>
              <a:rPr b="0" lang="en" sz="3377"/>
              <a:t>es </a:t>
            </a:r>
            <a:r>
              <a:rPr b="0" lang="en" sz="3377"/>
              <a:t>through “Crypto Twitter”,</a:t>
            </a:r>
            <a:r>
              <a:rPr lang="en" sz="3377"/>
              <a:t> how can an average user filter out the fake news?</a:t>
            </a:r>
            <a:endParaRPr sz="3377"/>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6" name="Shape 96"/>
        <p:cNvGrpSpPr/>
        <p:nvPr/>
      </p:nvGrpSpPr>
      <p:grpSpPr>
        <a:xfrm>
          <a:off x="0" y="0"/>
          <a:ext cx="0" cy="0"/>
          <a:chOff x="0" y="0"/>
          <a:chExt cx="0" cy="0"/>
        </a:xfrm>
      </p:grpSpPr>
      <p:sp>
        <p:nvSpPr>
          <p:cNvPr id="97" name="Google Shape;97;p15"/>
          <p:cNvSpPr txBox="1"/>
          <p:nvPr>
            <p:ph type="title"/>
          </p:nvPr>
        </p:nvSpPr>
        <p:spPr>
          <a:xfrm>
            <a:off x="729450" y="6560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Motivation</a:t>
            </a:r>
            <a:endParaRPr/>
          </a:p>
        </p:txBody>
      </p:sp>
      <p:pic>
        <p:nvPicPr>
          <p:cNvPr id="98" name="Google Shape;98;p15"/>
          <p:cNvPicPr preferRelativeResize="0"/>
          <p:nvPr/>
        </p:nvPicPr>
        <p:blipFill>
          <a:blip r:embed="rId3">
            <a:alphaModFix/>
          </a:blip>
          <a:stretch>
            <a:fillRect/>
          </a:stretch>
        </p:blipFill>
        <p:spPr>
          <a:xfrm>
            <a:off x="152400" y="1343650"/>
            <a:ext cx="8839200" cy="151743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2" name="Shape 102"/>
        <p:cNvGrpSpPr/>
        <p:nvPr/>
      </p:nvGrpSpPr>
      <p:grpSpPr>
        <a:xfrm>
          <a:off x="0" y="0"/>
          <a:ext cx="0" cy="0"/>
          <a:chOff x="0" y="0"/>
          <a:chExt cx="0" cy="0"/>
        </a:xfrm>
      </p:grpSpPr>
      <p:sp>
        <p:nvSpPr>
          <p:cNvPr id="103" name="Google Shape;103;p16"/>
          <p:cNvSpPr txBox="1"/>
          <p:nvPr>
            <p:ph type="title"/>
          </p:nvPr>
        </p:nvSpPr>
        <p:spPr>
          <a:xfrm>
            <a:off x="729450" y="6560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Motivation</a:t>
            </a:r>
            <a:endParaRPr/>
          </a:p>
        </p:txBody>
      </p:sp>
      <p:pic>
        <p:nvPicPr>
          <p:cNvPr id="104" name="Google Shape;104;p16"/>
          <p:cNvPicPr preferRelativeResize="0"/>
          <p:nvPr/>
        </p:nvPicPr>
        <p:blipFill>
          <a:blip r:embed="rId3">
            <a:alphaModFix/>
          </a:blip>
          <a:stretch>
            <a:fillRect/>
          </a:stretch>
        </p:blipFill>
        <p:spPr>
          <a:xfrm>
            <a:off x="152400" y="1343650"/>
            <a:ext cx="8839200" cy="1517434"/>
          </a:xfrm>
          <a:prstGeom prst="rect">
            <a:avLst/>
          </a:prstGeom>
          <a:noFill/>
          <a:ln>
            <a:noFill/>
          </a:ln>
        </p:spPr>
      </p:pic>
      <p:pic>
        <p:nvPicPr>
          <p:cNvPr id="105" name="Google Shape;105;p16"/>
          <p:cNvPicPr preferRelativeResize="0"/>
          <p:nvPr/>
        </p:nvPicPr>
        <p:blipFill>
          <a:blip r:embed="rId4">
            <a:alphaModFix/>
          </a:blip>
          <a:stretch>
            <a:fillRect/>
          </a:stretch>
        </p:blipFill>
        <p:spPr>
          <a:xfrm>
            <a:off x="5592500" y="558150"/>
            <a:ext cx="3399099" cy="32841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9" name="Shape 109"/>
        <p:cNvGrpSpPr/>
        <p:nvPr/>
      </p:nvGrpSpPr>
      <p:grpSpPr>
        <a:xfrm>
          <a:off x="0" y="0"/>
          <a:ext cx="0" cy="0"/>
          <a:chOff x="0" y="0"/>
          <a:chExt cx="0" cy="0"/>
        </a:xfrm>
      </p:grpSpPr>
      <p:sp>
        <p:nvSpPr>
          <p:cNvPr id="110" name="Google Shape;110;p17"/>
          <p:cNvSpPr txBox="1"/>
          <p:nvPr>
            <p:ph type="title"/>
          </p:nvPr>
        </p:nvSpPr>
        <p:spPr>
          <a:xfrm>
            <a:off x="729450" y="6560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Motivation</a:t>
            </a:r>
            <a:endParaRPr/>
          </a:p>
        </p:txBody>
      </p:sp>
      <p:pic>
        <p:nvPicPr>
          <p:cNvPr id="111" name="Google Shape;111;p17"/>
          <p:cNvPicPr preferRelativeResize="0"/>
          <p:nvPr/>
        </p:nvPicPr>
        <p:blipFill>
          <a:blip r:embed="rId3">
            <a:alphaModFix/>
          </a:blip>
          <a:stretch>
            <a:fillRect/>
          </a:stretch>
        </p:blipFill>
        <p:spPr>
          <a:xfrm>
            <a:off x="152400" y="1343650"/>
            <a:ext cx="8839200" cy="1517434"/>
          </a:xfrm>
          <a:prstGeom prst="rect">
            <a:avLst/>
          </a:prstGeom>
          <a:noFill/>
          <a:ln>
            <a:noFill/>
          </a:ln>
        </p:spPr>
      </p:pic>
      <p:pic>
        <p:nvPicPr>
          <p:cNvPr id="112" name="Google Shape;112;p17"/>
          <p:cNvPicPr preferRelativeResize="0"/>
          <p:nvPr/>
        </p:nvPicPr>
        <p:blipFill>
          <a:blip r:embed="rId4">
            <a:alphaModFix/>
          </a:blip>
          <a:stretch>
            <a:fillRect/>
          </a:stretch>
        </p:blipFill>
        <p:spPr>
          <a:xfrm>
            <a:off x="152411" y="2623600"/>
            <a:ext cx="3867413" cy="2266950"/>
          </a:xfrm>
          <a:prstGeom prst="rect">
            <a:avLst/>
          </a:prstGeom>
          <a:noFill/>
          <a:ln>
            <a:noFill/>
          </a:ln>
        </p:spPr>
      </p:pic>
      <p:pic>
        <p:nvPicPr>
          <p:cNvPr id="113" name="Google Shape;113;p17"/>
          <p:cNvPicPr preferRelativeResize="0"/>
          <p:nvPr/>
        </p:nvPicPr>
        <p:blipFill>
          <a:blip r:embed="rId5">
            <a:alphaModFix/>
          </a:blip>
          <a:stretch>
            <a:fillRect/>
          </a:stretch>
        </p:blipFill>
        <p:spPr>
          <a:xfrm>
            <a:off x="5592500" y="558150"/>
            <a:ext cx="3399099" cy="32841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7" name="Shape 117"/>
        <p:cNvGrpSpPr/>
        <p:nvPr/>
      </p:nvGrpSpPr>
      <p:grpSpPr>
        <a:xfrm>
          <a:off x="0" y="0"/>
          <a:ext cx="0" cy="0"/>
          <a:chOff x="0" y="0"/>
          <a:chExt cx="0" cy="0"/>
        </a:xfrm>
      </p:grpSpPr>
      <p:sp>
        <p:nvSpPr>
          <p:cNvPr id="118" name="Google Shape;118;p18"/>
          <p:cNvSpPr txBox="1"/>
          <p:nvPr>
            <p:ph type="title"/>
          </p:nvPr>
        </p:nvSpPr>
        <p:spPr>
          <a:xfrm>
            <a:off x="729450" y="6560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Motivation</a:t>
            </a:r>
            <a:endParaRPr/>
          </a:p>
        </p:txBody>
      </p:sp>
      <p:pic>
        <p:nvPicPr>
          <p:cNvPr id="119" name="Google Shape;119;p18"/>
          <p:cNvPicPr preferRelativeResize="0"/>
          <p:nvPr/>
        </p:nvPicPr>
        <p:blipFill>
          <a:blip r:embed="rId3">
            <a:alphaModFix/>
          </a:blip>
          <a:stretch>
            <a:fillRect/>
          </a:stretch>
        </p:blipFill>
        <p:spPr>
          <a:xfrm>
            <a:off x="152400" y="1343650"/>
            <a:ext cx="8839200" cy="1517434"/>
          </a:xfrm>
          <a:prstGeom prst="rect">
            <a:avLst/>
          </a:prstGeom>
          <a:noFill/>
          <a:ln>
            <a:noFill/>
          </a:ln>
        </p:spPr>
      </p:pic>
      <p:pic>
        <p:nvPicPr>
          <p:cNvPr id="120" name="Google Shape;120;p18"/>
          <p:cNvPicPr preferRelativeResize="0"/>
          <p:nvPr/>
        </p:nvPicPr>
        <p:blipFill>
          <a:blip r:embed="rId4">
            <a:alphaModFix/>
          </a:blip>
          <a:stretch>
            <a:fillRect/>
          </a:stretch>
        </p:blipFill>
        <p:spPr>
          <a:xfrm>
            <a:off x="152411" y="2623600"/>
            <a:ext cx="3867413" cy="2266950"/>
          </a:xfrm>
          <a:prstGeom prst="rect">
            <a:avLst/>
          </a:prstGeom>
          <a:noFill/>
          <a:ln>
            <a:noFill/>
          </a:ln>
        </p:spPr>
      </p:pic>
      <p:pic>
        <p:nvPicPr>
          <p:cNvPr id="121" name="Google Shape;121;p18"/>
          <p:cNvPicPr preferRelativeResize="0"/>
          <p:nvPr/>
        </p:nvPicPr>
        <p:blipFill>
          <a:blip r:embed="rId5">
            <a:alphaModFix/>
          </a:blip>
          <a:stretch>
            <a:fillRect/>
          </a:stretch>
        </p:blipFill>
        <p:spPr>
          <a:xfrm>
            <a:off x="5592500" y="558150"/>
            <a:ext cx="3399099" cy="3284150"/>
          </a:xfrm>
          <a:prstGeom prst="rect">
            <a:avLst/>
          </a:prstGeom>
          <a:noFill/>
          <a:ln>
            <a:noFill/>
          </a:ln>
        </p:spPr>
      </p:pic>
      <p:pic>
        <p:nvPicPr>
          <p:cNvPr id="122" name="Google Shape;122;p18"/>
          <p:cNvPicPr preferRelativeResize="0"/>
          <p:nvPr/>
        </p:nvPicPr>
        <p:blipFill>
          <a:blip r:embed="rId6">
            <a:alphaModFix/>
          </a:blip>
          <a:stretch>
            <a:fillRect/>
          </a:stretch>
        </p:blipFill>
        <p:spPr>
          <a:xfrm>
            <a:off x="4852875" y="2086877"/>
            <a:ext cx="3399100" cy="305662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19"/>
          <p:cNvSpPr txBox="1"/>
          <p:nvPr>
            <p:ph type="title"/>
          </p:nvPr>
        </p:nvSpPr>
        <p:spPr>
          <a:xfrm>
            <a:off x="729450" y="6560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Motivation</a:t>
            </a:r>
            <a:endParaRPr/>
          </a:p>
        </p:txBody>
      </p:sp>
      <p:pic>
        <p:nvPicPr>
          <p:cNvPr id="128" name="Google Shape;128;p19"/>
          <p:cNvPicPr preferRelativeResize="0"/>
          <p:nvPr/>
        </p:nvPicPr>
        <p:blipFill>
          <a:blip r:embed="rId3">
            <a:alphaModFix/>
          </a:blip>
          <a:stretch>
            <a:fillRect/>
          </a:stretch>
        </p:blipFill>
        <p:spPr>
          <a:xfrm>
            <a:off x="152400" y="1343650"/>
            <a:ext cx="8839200" cy="1517434"/>
          </a:xfrm>
          <a:prstGeom prst="rect">
            <a:avLst/>
          </a:prstGeom>
          <a:noFill/>
          <a:ln>
            <a:noFill/>
          </a:ln>
        </p:spPr>
      </p:pic>
      <p:pic>
        <p:nvPicPr>
          <p:cNvPr id="129" name="Google Shape;129;p19"/>
          <p:cNvPicPr preferRelativeResize="0"/>
          <p:nvPr/>
        </p:nvPicPr>
        <p:blipFill>
          <a:blip r:embed="rId4">
            <a:alphaModFix/>
          </a:blip>
          <a:stretch>
            <a:fillRect/>
          </a:stretch>
        </p:blipFill>
        <p:spPr>
          <a:xfrm>
            <a:off x="152411" y="2623600"/>
            <a:ext cx="3867413" cy="2266950"/>
          </a:xfrm>
          <a:prstGeom prst="rect">
            <a:avLst/>
          </a:prstGeom>
          <a:noFill/>
          <a:ln>
            <a:noFill/>
          </a:ln>
        </p:spPr>
      </p:pic>
      <p:pic>
        <p:nvPicPr>
          <p:cNvPr id="130" name="Google Shape;130;p19"/>
          <p:cNvPicPr preferRelativeResize="0"/>
          <p:nvPr/>
        </p:nvPicPr>
        <p:blipFill>
          <a:blip r:embed="rId5">
            <a:alphaModFix/>
          </a:blip>
          <a:stretch>
            <a:fillRect/>
          </a:stretch>
        </p:blipFill>
        <p:spPr>
          <a:xfrm>
            <a:off x="5592500" y="558150"/>
            <a:ext cx="3399099" cy="3284150"/>
          </a:xfrm>
          <a:prstGeom prst="rect">
            <a:avLst/>
          </a:prstGeom>
          <a:noFill/>
          <a:ln>
            <a:noFill/>
          </a:ln>
        </p:spPr>
      </p:pic>
      <p:pic>
        <p:nvPicPr>
          <p:cNvPr id="131" name="Google Shape;131;p19"/>
          <p:cNvPicPr preferRelativeResize="0"/>
          <p:nvPr/>
        </p:nvPicPr>
        <p:blipFill>
          <a:blip r:embed="rId6">
            <a:alphaModFix/>
          </a:blip>
          <a:stretch>
            <a:fillRect/>
          </a:stretch>
        </p:blipFill>
        <p:spPr>
          <a:xfrm>
            <a:off x="4852875" y="2086877"/>
            <a:ext cx="3399100" cy="305662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
                                        </p:tgtEl>
                                        <p:attrNameLst>
                                          <p:attrName>style.visibility</p:attrName>
                                        </p:attrNameLst>
                                      </p:cBhvr>
                                      <p:to>
                                        <p:strVal val="visible"/>
                                      </p:to>
                                    </p:set>
                                    <p:animEffect filter="fade" transition="in">
                                      <p:cBhvr>
                                        <p:cTn dur="200"/>
                                        <p:tgtEl>
                                          <p:spTgt spid="1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30"/>
                                        </p:tgtEl>
                                        <p:attrNameLst>
                                          <p:attrName>style.visibility</p:attrName>
                                        </p:attrNameLst>
                                      </p:cBhvr>
                                      <p:to>
                                        <p:strVal val="visible"/>
                                      </p:to>
                                    </p:set>
                                    <p:anim calcmode="lin" valueType="num">
                                      <p:cBhvr additive="base">
                                        <p:cTn dur="200"/>
                                        <p:tgtEl>
                                          <p:spTgt spid="130"/>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29"/>
                                        </p:tgtEl>
                                        <p:attrNameLst>
                                          <p:attrName>style.visibility</p:attrName>
                                        </p:attrNameLst>
                                      </p:cBhvr>
                                      <p:to>
                                        <p:strVal val="visible"/>
                                      </p:to>
                                    </p:set>
                                    <p:anim calcmode="lin" valueType="num">
                                      <p:cBhvr additive="base">
                                        <p:cTn dur="200"/>
                                        <p:tgtEl>
                                          <p:spTgt spid="129"/>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31"/>
                                        </p:tgtEl>
                                        <p:attrNameLst>
                                          <p:attrName>style.visibility</p:attrName>
                                        </p:attrNameLst>
                                      </p:cBhvr>
                                      <p:to>
                                        <p:strVal val="visible"/>
                                      </p:to>
                                    </p:set>
                                    <p:anim calcmode="lin" valueType="num">
                                      <p:cBhvr additive="base">
                                        <p:cTn dur="200"/>
                                        <p:tgtEl>
                                          <p:spTgt spid="131"/>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35" name="Shape 135"/>
        <p:cNvGrpSpPr/>
        <p:nvPr/>
      </p:nvGrpSpPr>
      <p:grpSpPr>
        <a:xfrm>
          <a:off x="0" y="0"/>
          <a:ext cx="0" cy="0"/>
          <a:chOff x="0" y="0"/>
          <a:chExt cx="0" cy="0"/>
        </a:xfrm>
      </p:grpSpPr>
      <p:sp>
        <p:nvSpPr>
          <p:cNvPr id="136" name="Google Shape;136;p20"/>
          <p:cNvSpPr txBox="1"/>
          <p:nvPr>
            <p:ph type="title"/>
          </p:nvPr>
        </p:nvSpPr>
        <p:spPr>
          <a:xfrm>
            <a:off x="729450" y="6560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Motivation</a:t>
            </a:r>
            <a:endParaRPr/>
          </a:p>
        </p:txBody>
      </p:sp>
      <p:sp>
        <p:nvSpPr>
          <p:cNvPr id="137" name="Google Shape;137;p20"/>
          <p:cNvSpPr txBox="1"/>
          <p:nvPr>
            <p:ph idx="1" type="body"/>
          </p:nvPr>
        </p:nvSpPr>
        <p:spPr>
          <a:xfrm>
            <a:off x="729450" y="1359500"/>
            <a:ext cx="7791000" cy="29805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SzPts val="1500"/>
              <a:buAutoNum type="arabicPeriod"/>
            </a:pPr>
            <a:r>
              <a:rPr lang="en"/>
              <a:t>The crypto market space is </a:t>
            </a:r>
            <a:r>
              <a:rPr b="1" lang="en"/>
              <a:t>1.78T</a:t>
            </a:r>
            <a:r>
              <a:rPr lang="en"/>
              <a:t> and forecasted to grow even higher.</a:t>
            </a:r>
            <a:endParaRPr/>
          </a:p>
          <a:p>
            <a:pPr indent="0" lvl="0" marL="457200" rtl="0" algn="l">
              <a:spcBef>
                <a:spcPts val="1200"/>
              </a:spcBef>
              <a:spcAft>
                <a:spcPts val="0"/>
              </a:spcAft>
              <a:buNone/>
            </a:pPr>
            <a:r>
              <a:t/>
            </a:r>
            <a:endParaRPr/>
          </a:p>
          <a:p>
            <a:pPr indent="0" lvl="0" marL="457200" rtl="0" algn="l">
              <a:spcBef>
                <a:spcPts val="1200"/>
              </a:spcBef>
              <a:spcAft>
                <a:spcPts val="0"/>
              </a:spcAft>
              <a:buNone/>
            </a:pPr>
            <a:r>
              <a:t/>
            </a:r>
            <a:endParaRPr/>
          </a:p>
          <a:p>
            <a:pPr indent="0" lvl="0" marL="457200" rtl="0" algn="l">
              <a:spcBef>
                <a:spcPts val="1200"/>
              </a:spcBef>
              <a:spcAft>
                <a:spcPts val="12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41" name="Shape 141"/>
        <p:cNvGrpSpPr/>
        <p:nvPr/>
      </p:nvGrpSpPr>
      <p:grpSpPr>
        <a:xfrm>
          <a:off x="0" y="0"/>
          <a:ext cx="0" cy="0"/>
          <a:chOff x="0" y="0"/>
          <a:chExt cx="0" cy="0"/>
        </a:xfrm>
      </p:grpSpPr>
      <p:sp>
        <p:nvSpPr>
          <p:cNvPr id="142" name="Google Shape;142;p21"/>
          <p:cNvSpPr txBox="1"/>
          <p:nvPr>
            <p:ph type="title"/>
          </p:nvPr>
        </p:nvSpPr>
        <p:spPr>
          <a:xfrm>
            <a:off x="729450" y="6560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Motivation</a:t>
            </a:r>
            <a:endParaRPr/>
          </a:p>
        </p:txBody>
      </p:sp>
      <p:sp>
        <p:nvSpPr>
          <p:cNvPr id="143" name="Google Shape;143;p21"/>
          <p:cNvSpPr txBox="1"/>
          <p:nvPr>
            <p:ph idx="1" type="body"/>
          </p:nvPr>
        </p:nvSpPr>
        <p:spPr>
          <a:xfrm>
            <a:off x="729450" y="1359500"/>
            <a:ext cx="7791000" cy="29805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SzPts val="1500"/>
              <a:buAutoNum type="arabicPeriod"/>
            </a:pPr>
            <a:r>
              <a:rPr lang="en"/>
              <a:t>The crypto market space is </a:t>
            </a:r>
            <a:r>
              <a:rPr b="1" lang="en"/>
              <a:t>1.78T</a:t>
            </a:r>
            <a:r>
              <a:rPr lang="en"/>
              <a:t> and forecasted to grow even higher.</a:t>
            </a:r>
            <a:endParaRPr/>
          </a:p>
          <a:p>
            <a:pPr indent="-323850" lvl="0" marL="457200" rtl="0" algn="l">
              <a:spcBef>
                <a:spcPts val="0"/>
              </a:spcBef>
              <a:spcAft>
                <a:spcPts val="0"/>
              </a:spcAft>
              <a:buSzPts val="1500"/>
              <a:buAutoNum type="arabicPeriod"/>
            </a:pPr>
            <a:r>
              <a:rPr lang="en"/>
              <a:t>The space is highly dynamic and market prices are very responsive to a </a:t>
            </a:r>
            <a:r>
              <a:rPr b="1" lang="en"/>
              <a:t>constant flood</a:t>
            </a:r>
            <a:r>
              <a:rPr lang="en"/>
              <a:t> of newsbites (</a:t>
            </a:r>
            <a:r>
              <a:rPr b="1" lang="en"/>
              <a:t>often misleading or fake</a:t>
            </a:r>
            <a:r>
              <a:rPr lang="en"/>
              <a:t>) spread mainly on social networks like Twitter.</a:t>
            </a:r>
            <a:endParaRPr/>
          </a:p>
          <a:p>
            <a:pPr indent="0" lvl="0" marL="457200" rtl="0" algn="l">
              <a:spcBef>
                <a:spcPts val="1200"/>
              </a:spcBef>
              <a:spcAft>
                <a:spcPts val="0"/>
              </a:spcAft>
              <a:buNone/>
            </a:pPr>
            <a:r>
              <a:t/>
            </a:r>
            <a:endParaRPr/>
          </a:p>
          <a:p>
            <a:pPr indent="0" lvl="0" marL="457200" rtl="0" algn="l">
              <a:spcBef>
                <a:spcPts val="1200"/>
              </a:spcBef>
              <a:spcAft>
                <a:spcPts val="12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47" name="Shape 147"/>
        <p:cNvGrpSpPr/>
        <p:nvPr/>
      </p:nvGrpSpPr>
      <p:grpSpPr>
        <a:xfrm>
          <a:off x="0" y="0"/>
          <a:ext cx="0" cy="0"/>
          <a:chOff x="0" y="0"/>
          <a:chExt cx="0" cy="0"/>
        </a:xfrm>
      </p:grpSpPr>
      <p:sp>
        <p:nvSpPr>
          <p:cNvPr id="148" name="Google Shape;148;p22"/>
          <p:cNvSpPr txBox="1"/>
          <p:nvPr>
            <p:ph type="title"/>
          </p:nvPr>
        </p:nvSpPr>
        <p:spPr>
          <a:xfrm>
            <a:off x="729450" y="6560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Motivation</a:t>
            </a:r>
            <a:endParaRPr/>
          </a:p>
        </p:txBody>
      </p:sp>
      <p:sp>
        <p:nvSpPr>
          <p:cNvPr id="149" name="Google Shape;149;p22"/>
          <p:cNvSpPr txBox="1"/>
          <p:nvPr>
            <p:ph idx="1" type="body"/>
          </p:nvPr>
        </p:nvSpPr>
        <p:spPr>
          <a:xfrm>
            <a:off x="729450" y="1359500"/>
            <a:ext cx="7791000" cy="29805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SzPts val="1500"/>
              <a:buAutoNum type="arabicPeriod"/>
            </a:pPr>
            <a:r>
              <a:rPr lang="en"/>
              <a:t>The crypto market space is </a:t>
            </a:r>
            <a:r>
              <a:rPr b="1" lang="en"/>
              <a:t>1.78T</a:t>
            </a:r>
            <a:r>
              <a:rPr lang="en"/>
              <a:t> and forecasted to grow even higher.</a:t>
            </a:r>
            <a:endParaRPr/>
          </a:p>
          <a:p>
            <a:pPr indent="-323850" lvl="0" marL="457200" rtl="0" algn="l">
              <a:spcBef>
                <a:spcPts val="0"/>
              </a:spcBef>
              <a:spcAft>
                <a:spcPts val="0"/>
              </a:spcAft>
              <a:buSzPts val="1500"/>
              <a:buAutoNum type="arabicPeriod"/>
            </a:pPr>
            <a:r>
              <a:rPr lang="en"/>
              <a:t>The space is highly dynamic and market prices are very responsive to a </a:t>
            </a:r>
            <a:r>
              <a:rPr b="1" lang="en"/>
              <a:t>constant flood</a:t>
            </a:r>
            <a:r>
              <a:rPr lang="en"/>
              <a:t> of newsbites (</a:t>
            </a:r>
            <a:r>
              <a:rPr b="1" lang="en"/>
              <a:t>often misleading or fake</a:t>
            </a:r>
            <a:r>
              <a:rPr lang="en"/>
              <a:t>) spread mainly on social networks like Twitter.</a:t>
            </a:r>
            <a:endParaRPr/>
          </a:p>
          <a:p>
            <a:pPr indent="-323850" lvl="0" marL="457200" rtl="0" algn="l">
              <a:spcBef>
                <a:spcPts val="0"/>
              </a:spcBef>
              <a:spcAft>
                <a:spcPts val="0"/>
              </a:spcAft>
              <a:buSzPts val="1500"/>
              <a:buAutoNum type="arabicPeriod"/>
            </a:pPr>
            <a:r>
              <a:rPr lang="en"/>
              <a:t>Especially as crypto has begun to achieve mainstream adoption, scammers have relied heavily on tactics such as </a:t>
            </a:r>
            <a:r>
              <a:rPr b="1" lang="en"/>
              <a:t>embedding malicious links</a:t>
            </a:r>
            <a:r>
              <a:rPr lang="en"/>
              <a:t> in fake news articles to lure in unsuspecting and inexperienced users as victims.</a:t>
            </a:r>
            <a:endParaRPr/>
          </a:p>
          <a:p>
            <a:pPr indent="0" lvl="0" marL="457200" rtl="0" algn="l">
              <a:spcBef>
                <a:spcPts val="1200"/>
              </a:spcBef>
              <a:spcAft>
                <a:spcPts val="120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3" name="Shape 153"/>
        <p:cNvGrpSpPr/>
        <p:nvPr/>
      </p:nvGrpSpPr>
      <p:grpSpPr>
        <a:xfrm>
          <a:off x="0" y="0"/>
          <a:ext cx="0" cy="0"/>
          <a:chOff x="0" y="0"/>
          <a:chExt cx="0" cy="0"/>
        </a:xfrm>
      </p:grpSpPr>
      <p:sp>
        <p:nvSpPr>
          <p:cNvPr id="154" name="Google Shape;154;p23"/>
          <p:cNvSpPr txBox="1"/>
          <p:nvPr>
            <p:ph type="title"/>
          </p:nvPr>
        </p:nvSpPr>
        <p:spPr>
          <a:xfrm>
            <a:off x="729450" y="6560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Motivation</a:t>
            </a:r>
            <a:endParaRPr/>
          </a:p>
        </p:txBody>
      </p:sp>
      <p:sp>
        <p:nvSpPr>
          <p:cNvPr id="155" name="Google Shape;155;p23"/>
          <p:cNvSpPr txBox="1"/>
          <p:nvPr>
            <p:ph idx="1" type="body"/>
          </p:nvPr>
        </p:nvSpPr>
        <p:spPr>
          <a:xfrm>
            <a:off x="729450" y="1359500"/>
            <a:ext cx="7791000" cy="29805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SzPts val="1500"/>
              <a:buAutoNum type="arabicPeriod"/>
            </a:pPr>
            <a:r>
              <a:rPr lang="en"/>
              <a:t>The crypto market space is </a:t>
            </a:r>
            <a:r>
              <a:rPr b="1" lang="en"/>
              <a:t>1.78T</a:t>
            </a:r>
            <a:r>
              <a:rPr lang="en"/>
              <a:t> and forecasted to grow even higher.</a:t>
            </a:r>
            <a:endParaRPr/>
          </a:p>
          <a:p>
            <a:pPr indent="-323850" lvl="0" marL="457200" rtl="0" algn="l">
              <a:spcBef>
                <a:spcPts val="0"/>
              </a:spcBef>
              <a:spcAft>
                <a:spcPts val="0"/>
              </a:spcAft>
              <a:buSzPts val="1500"/>
              <a:buAutoNum type="arabicPeriod"/>
            </a:pPr>
            <a:r>
              <a:rPr lang="en"/>
              <a:t>The space is highly dynamic and market prices are very responsive to a </a:t>
            </a:r>
            <a:r>
              <a:rPr b="1" lang="en"/>
              <a:t>constant flood</a:t>
            </a:r>
            <a:r>
              <a:rPr lang="en"/>
              <a:t> of newsbites (</a:t>
            </a:r>
            <a:r>
              <a:rPr b="1" lang="en"/>
              <a:t>often misleading or fake</a:t>
            </a:r>
            <a:r>
              <a:rPr lang="en"/>
              <a:t>) spread mainly on social networks like Twitter.</a:t>
            </a:r>
            <a:endParaRPr/>
          </a:p>
          <a:p>
            <a:pPr indent="-323850" lvl="0" marL="457200" rtl="0" algn="l">
              <a:spcBef>
                <a:spcPts val="0"/>
              </a:spcBef>
              <a:spcAft>
                <a:spcPts val="0"/>
              </a:spcAft>
              <a:buSzPts val="1500"/>
              <a:buAutoNum type="arabicPeriod"/>
            </a:pPr>
            <a:r>
              <a:rPr lang="en"/>
              <a:t>Especially as crypto has begun to achieve mainstream adoption, scammers have relied heavily on tactics such as </a:t>
            </a:r>
            <a:r>
              <a:rPr b="1" lang="en"/>
              <a:t>embedding malicious links</a:t>
            </a:r>
            <a:r>
              <a:rPr lang="en"/>
              <a:t> in fake news articles to lure in unsuspecting and inexperienced users as victims.</a:t>
            </a:r>
            <a:endParaRPr/>
          </a:p>
          <a:p>
            <a:pPr indent="-323850" lvl="0" marL="457200" rtl="0" algn="l">
              <a:spcBef>
                <a:spcPts val="0"/>
              </a:spcBef>
              <a:spcAft>
                <a:spcPts val="0"/>
              </a:spcAft>
              <a:buSzPts val="1500"/>
              <a:buAutoNum type="arabicPeriod"/>
            </a:pPr>
            <a:r>
              <a:rPr lang="en"/>
              <a:t>Our research aims to help users assess the validity of crypto news articles based on evidence sourced from online knowledge bases, with cosine similarity scores between </a:t>
            </a:r>
            <a:r>
              <a:rPr b="1" lang="en"/>
              <a:t>0.0 and 1.0 on a grayscale</a:t>
            </a:r>
            <a:r>
              <a:rPr lang="en"/>
              <a: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4"/>
          <p:cNvSpPr txBox="1"/>
          <p:nvPr>
            <p:ph type="title"/>
          </p:nvPr>
        </p:nvSpPr>
        <p:spPr>
          <a:xfrm>
            <a:off x="729450" y="6560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Motivation</a:t>
            </a:r>
            <a:endParaRPr/>
          </a:p>
        </p:txBody>
      </p:sp>
      <p:sp>
        <p:nvSpPr>
          <p:cNvPr id="161" name="Google Shape;161;p24"/>
          <p:cNvSpPr txBox="1"/>
          <p:nvPr>
            <p:ph idx="1" type="body"/>
          </p:nvPr>
        </p:nvSpPr>
        <p:spPr>
          <a:xfrm>
            <a:off x="729450" y="1359500"/>
            <a:ext cx="7791000" cy="29805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SzPts val="1500"/>
              <a:buAutoNum type="arabicPeriod"/>
            </a:pPr>
            <a:r>
              <a:rPr lang="en"/>
              <a:t>The crypto market space is </a:t>
            </a:r>
            <a:r>
              <a:rPr b="1" lang="en"/>
              <a:t>1.78T</a:t>
            </a:r>
            <a:r>
              <a:rPr lang="en"/>
              <a:t> and forecasted to grow even higher.</a:t>
            </a:r>
            <a:endParaRPr/>
          </a:p>
          <a:p>
            <a:pPr indent="-323850" lvl="0" marL="457200" rtl="0" algn="l">
              <a:spcBef>
                <a:spcPts val="0"/>
              </a:spcBef>
              <a:spcAft>
                <a:spcPts val="0"/>
              </a:spcAft>
              <a:buSzPts val="1500"/>
              <a:buAutoNum type="arabicPeriod"/>
            </a:pPr>
            <a:r>
              <a:rPr lang="en"/>
              <a:t>The space is </a:t>
            </a:r>
            <a:r>
              <a:rPr b="1" lang="en"/>
              <a:t>highly dynamic</a:t>
            </a:r>
            <a:r>
              <a:rPr lang="en"/>
              <a:t> and market prices are very </a:t>
            </a:r>
            <a:r>
              <a:rPr b="1" lang="en"/>
              <a:t>responsive to a </a:t>
            </a:r>
            <a:r>
              <a:rPr b="1" lang="en"/>
              <a:t>constant flood</a:t>
            </a:r>
            <a:r>
              <a:rPr lang="en"/>
              <a:t> of newsbites (</a:t>
            </a:r>
            <a:r>
              <a:rPr b="1" lang="en"/>
              <a:t>often misleading or fake</a:t>
            </a:r>
            <a:r>
              <a:rPr lang="en"/>
              <a:t>) spread mainly on social networks like Twitter.</a:t>
            </a:r>
            <a:endParaRPr/>
          </a:p>
          <a:p>
            <a:pPr indent="-323850" lvl="0" marL="457200" rtl="0" algn="l">
              <a:spcBef>
                <a:spcPts val="0"/>
              </a:spcBef>
              <a:spcAft>
                <a:spcPts val="0"/>
              </a:spcAft>
              <a:buSzPts val="1500"/>
              <a:buAutoNum type="arabicPeriod"/>
            </a:pPr>
            <a:r>
              <a:rPr lang="en"/>
              <a:t>As crypto has seen mainstream adoption, </a:t>
            </a:r>
            <a:r>
              <a:rPr b="1" lang="en"/>
              <a:t>scammers</a:t>
            </a:r>
            <a:r>
              <a:rPr lang="en"/>
              <a:t> have relied </a:t>
            </a:r>
            <a:r>
              <a:rPr lang="en"/>
              <a:t>heavily </a:t>
            </a:r>
            <a:r>
              <a:rPr lang="en"/>
              <a:t>on tactics like </a:t>
            </a:r>
            <a:r>
              <a:rPr b="1" lang="en"/>
              <a:t>embedding malicious links</a:t>
            </a:r>
            <a:r>
              <a:rPr lang="en"/>
              <a:t> in fake news articles to lure in unsuspecting and inexperienced users as victims.</a:t>
            </a:r>
            <a:endParaRPr/>
          </a:p>
          <a:p>
            <a:pPr indent="-323850" lvl="0" marL="457200" rtl="0" algn="l">
              <a:spcBef>
                <a:spcPts val="0"/>
              </a:spcBef>
              <a:spcAft>
                <a:spcPts val="0"/>
              </a:spcAft>
              <a:buSzPts val="1500"/>
              <a:buAutoNum type="arabicPeriod"/>
            </a:pPr>
            <a:r>
              <a:rPr lang="en"/>
              <a:t>Our research aims to </a:t>
            </a:r>
            <a:r>
              <a:rPr b="1" lang="en"/>
              <a:t>help users assess the validity of crypto news</a:t>
            </a:r>
            <a:r>
              <a:rPr lang="en"/>
              <a:t> articles based on evidence sourced from online knowledge bases, with cosine similarity scores between </a:t>
            </a:r>
            <a:r>
              <a:rPr b="1" lang="en"/>
              <a:t>0.0 and 1.0 on a grayscale</a:t>
            </a:r>
            <a:r>
              <a:rPr lang="en"/>
              <a: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5"/>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Methodology</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70" name="Shape 170"/>
        <p:cNvGrpSpPr/>
        <p:nvPr/>
      </p:nvGrpSpPr>
      <p:grpSpPr>
        <a:xfrm>
          <a:off x="0" y="0"/>
          <a:ext cx="0" cy="0"/>
          <a:chOff x="0" y="0"/>
          <a:chExt cx="0" cy="0"/>
        </a:xfrm>
      </p:grpSpPr>
      <p:sp>
        <p:nvSpPr>
          <p:cNvPr id="171" name="Google Shape;171;p26"/>
          <p:cNvSpPr txBox="1"/>
          <p:nvPr>
            <p:ph type="title"/>
          </p:nvPr>
        </p:nvSpPr>
        <p:spPr>
          <a:xfrm>
            <a:off x="729450" y="6560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Methodology</a:t>
            </a:r>
            <a:endParaRPr/>
          </a:p>
        </p:txBody>
      </p:sp>
      <p:sp>
        <p:nvSpPr>
          <p:cNvPr id="172" name="Google Shape;172;p26"/>
          <p:cNvSpPr txBox="1"/>
          <p:nvPr>
            <p:ph idx="1" type="body"/>
          </p:nvPr>
        </p:nvSpPr>
        <p:spPr>
          <a:xfrm>
            <a:off x="729450" y="1347625"/>
            <a:ext cx="7785600" cy="3368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Our proposed methodology as we began our research was as follows:</a:t>
            </a:r>
            <a:endParaRPr/>
          </a:p>
          <a:p>
            <a:pPr indent="-323850" lvl="0" marL="457200" rtl="0" algn="l">
              <a:spcBef>
                <a:spcPts val="0"/>
              </a:spcBef>
              <a:spcAft>
                <a:spcPts val="0"/>
              </a:spcAft>
              <a:buSzPts val="1500"/>
              <a:buAutoNum type="arabicPeriod"/>
            </a:pPr>
            <a:r>
              <a:rPr lang="en"/>
              <a:t>Take input from the user some crypto news (i.e. a Tweet or a full article) he/she wants to verify.</a:t>
            </a:r>
            <a:endParaRPr/>
          </a:p>
          <a:p>
            <a:pPr indent="0" lvl="0" marL="457200" rtl="0" algn="l">
              <a:spcBef>
                <a:spcPts val="1200"/>
              </a:spcBef>
              <a:spcAft>
                <a:spcPts val="0"/>
              </a:spcAft>
              <a:buNone/>
            </a:pPr>
            <a:r>
              <a:t/>
            </a:r>
            <a:endParaRPr/>
          </a:p>
          <a:p>
            <a:pPr indent="0" lvl="0" marL="45720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i="1"/>
          </a:p>
          <a:p>
            <a:pPr indent="0" lvl="0" marL="0" rtl="0" algn="l">
              <a:spcBef>
                <a:spcPts val="0"/>
              </a:spcBef>
              <a:spcAft>
                <a:spcPts val="0"/>
              </a:spcAft>
              <a:buNone/>
            </a:pPr>
            <a:r>
              <a:t/>
            </a:r>
            <a:endParaRPr i="1"/>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76" name="Shape 176"/>
        <p:cNvGrpSpPr/>
        <p:nvPr/>
      </p:nvGrpSpPr>
      <p:grpSpPr>
        <a:xfrm>
          <a:off x="0" y="0"/>
          <a:ext cx="0" cy="0"/>
          <a:chOff x="0" y="0"/>
          <a:chExt cx="0" cy="0"/>
        </a:xfrm>
      </p:grpSpPr>
      <p:sp>
        <p:nvSpPr>
          <p:cNvPr id="177" name="Google Shape;177;p27"/>
          <p:cNvSpPr txBox="1"/>
          <p:nvPr>
            <p:ph type="title"/>
          </p:nvPr>
        </p:nvSpPr>
        <p:spPr>
          <a:xfrm>
            <a:off x="729450" y="6560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Methodology</a:t>
            </a:r>
            <a:endParaRPr/>
          </a:p>
        </p:txBody>
      </p:sp>
      <p:sp>
        <p:nvSpPr>
          <p:cNvPr id="178" name="Google Shape;178;p27"/>
          <p:cNvSpPr txBox="1"/>
          <p:nvPr>
            <p:ph idx="1" type="body"/>
          </p:nvPr>
        </p:nvSpPr>
        <p:spPr>
          <a:xfrm>
            <a:off x="729450" y="1347625"/>
            <a:ext cx="7785600" cy="3368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Our proposed methodology as we began our research was as follows:</a:t>
            </a:r>
            <a:endParaRPr/>
          </a:p>
          <a:p>
            <a:pPr indent="-323850" lvl="0" marL="457200" rtl="0" algn="l">
              <a:spcBef>
                <a:spcPts val="0"/>
              </a:spcBef>
              <a:spcAft>
                <a:spcPts val="0"/>
              </a:spcAft>
              <a:buSzPts val="1500"/>
              <a:buAutoNum type="arabicPeriod"/>
            </a:pPr>
            <a:r>
              <a:rPr lang="en"/>
              <a:t>Take input from the user some crypto news (i.e. a Tweet or a full article) he/she wants to verify.</a:t>
            </a:r>
            <a:endParaRPr/>
          </a:p>
          <a:p>
            <a:pPr indent="-323850" lvl="0" marL="457200" rtl="0" algn="l">
              <a:spcBef>
                <a:spcPts val="0"/>
              </a:spcBef>
              <a:spcAft>
                <a:spcPts val="0"/>
              </a:spcAft>
              <a:buSzPts val="1500"/>
              <a:buAutoNum type="arabicPeriod"/>
            </a:pPr>
            <a:r>
              <a:rPr lang="en"/>
              <a:t>We apply basic filters to check the article has enough word count and is from the crypto space.</a:t>
            </a:r>
            <a:endParaRPr/>
          </a:p>
          <a:p>
            <a:pPr indent="0" lvl="0" marL="45720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i="1"/>
          </a:p>
          <a:p>
            <a:pPr indent="0" lvl="0" marL="0" rtl="0" algn="l">
              <a:spcBef>
                <a:spcPts val="0"/>
              </a:spcBef>
              <a:spcAft>
                <a:spcPts val="0"/>
              </a:spcAft>
              <a:buNone/>
            </a:pPr>
            <a:r>
              <a:t/>
            </a:r>
            <a:endParaRPr i="1"/>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82" name="Shape 182"/>
        <p:cNvGrpSpPr/>
        <p:nvPr/>
      </p:nvGrpSpPr>
      <p:grpSpPr>
        <a:xfrm>
          <a:off x="0" y="0"/>
          <a:ext cx="0" cy="0"/>
          <a:chOff x="0" y="0"/>
          <a:chExt cx="0" cy="0"/>
        </a:xfrm>
      </p:grpSpPr>
      <p:sp>
        <p:nvSpPr>
          <p:cNvPr id="183" name="Google Shape;183;p28"/>
          <p:cNvSpPr txBox="1"/>
          <p:nvPr>
            <p:ph type="title"/>
          </p:nvPr>
        </p:nvSpPr>
        <p:spPr>
          <a:xfrm>
            <a:off x="729450" y="6560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Methodology</a:t>
            </a:r>
            <a:endParaRPr/>
          </a:p>
        </p:txBody>
      </p:sp>
      <p:sp>
        <p:nvSpPr>
          <p:cNvPr id="184" name="Google Shape;184;p28"/>
          <p:cNvSpPr txBox="1"/>
          <p:nvPr>
            <p:ph idx="1" type="body"/>
          </p:nvPr>
        </p:nvSpPr>
        <p:spPr>
          <a:xfrm>
            <a:off x="729450" y="1347625"/>
            <a:ext cx="7785600" cy="3368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Our proposed methodology as we began our research was as follows:</a:t>
            </a:r>
            <a:endParaRPr/>
          </a:p>
          <a:p>
            <a:pPr indent="-323850" lvl="0" marL="457200" rtl="0" algn="l">
              <a:spcBef>
                <a:spcPts val="0"/>
              </a:spcBef>
              <a:spcAft>
                <a:spcPts val="0"/>
              </a:spcAft>
              <a:buSzPts val="1500"/>
              <a:buAutoNum type="arabicPeriod"/>
            </a:pPr>
            <a:r>
              <a:rPr lang="en"/>
              <a:t>Take input from the user some crypto news (i.e. a Tweet or a full article) he/she wants to verify.</a:t>
            </a:r>
            <a:endParaRPr/>
          </a:p>
          <a:p>
            <a:pPr indent="-323850" lvl="0" marL="457200" rtl="0" algn="l">
              <a:spcBef>
                <a:spcPts val="0"/>
              </a:spcBef>
              <a:spcAft>
                <a:spcPts val="0"/>
              </a:spcAft>
              <a:buSzPts val="1500"/>
              <a:buAutoNum type="arabicPeriod"/>
            </a:pPr>
            <a:r>
              <a:rPr lang="en"/>
              <a:t>We apply basic filters to check the article has enough word count and is from the crypto space.</a:t>
            </a:r>
            <a:endParaRPr/>
          </a:p>
          <a:p>
            <a:pPr indent="-323850" lvl="0" marL="457200" rtl="0" algn="l">
              <a:spcBef>
                <a:spcPts val="0"/>
              </a:spcBef>
              <a:spcAft>
                <a:spcPts val="0"/>
              </a:spcAft>
              <a:buSzPts val="1500"/>
              <a:buAutoNum type="arabicPeriod"/>
            </a:pPr>
            <a:r>
              <a:rPr lang="en"/>
              <a:t>If the input passes these filters, we process the input to create a bag of words.</a:t>
            </a:r>
            <a:endParaRPr/>
          </a:p>
          <a:p>
            <a:pPr indent="0" lvl="0" marL="0" rtl="0" algn="l">
              <a:spcBef>
                <a:spcPts val="120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i="1"/>
          </a:p>
          <a:p>
            <a:pPr indent="0" lvl="0" marL="0" rtl="0" algn="l">
              <a:spcBef>
                <a:spcPts val="0"/>
              </a:spcBef>
              <a:spcAft>
                <a:spcPts val="0"/>
              </a:spcAft>
              <a:buNone/>
            </a:pPr>
            <a:r>
              <a:t/>
            </a:r>
            <a:endParaRPr i="1"/>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88" name="Shape 188"/>
        <p:cNvGrpSpPr/>
        <p:nvPr/>
      </p:nvGrpSpPr>
      <p:grpSpPr>
        <a:xfrm>
          <a:off x="0" y="0"/>
          <a:ext cx="0" cy="0"/>
          <a:chOff x="0" y="0"/>
          <a:chExt cx="0" cy="0"/>
        </a:xfrm>
      </p:grpSpPr>
      <p:sp>
        <p:nvSpPr>
          <p:cNvPr id="189" name="Google Shape;189;p29"/>
          <p:cNvSpPr txBox="1"/>
          <p:nvPr>
            <p:ph type="title"/>
          </p:nvPr>
        </p:nvSpPr>
        <p:spPr>
          <a:xfrm>
            <a:off x="729450" y="6560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Methodology</a:t>
            </a:r>
            <a:endParaRPr/>
          </a:p>
        </p:txBody>
      </p:sp>
      <p:sp>
        <p:nvSpPr>
          <p:cNvPr id="190" name="Google Shape;190;p29"/>
          <p:cNvSpPr txBox="1"/>
          <p:nvPr>
            <p:ph idx="1" type="body"/>
          </p:nvPr>
        </p:nvSpPr>
        <p:spPr>
          <a:xfrm>
            <a:off x="729450" y="1347625"/>
            <a:ext cx="7785600" cy="3368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Our proposed methodology as we began our research was as follows:</a:t>
            </a:r>
            <a:endParaRPr/>
          </a:p>
          <a:p>
            <a:pPr indent="-323850" lvl="0" marL="457200" rtl="0" algn="l">
              <a:spcBef>
                <a:spcPts val="0"/>
              </a:spcBef>
              <a:spcAft>
                <a:spcPts val="0"/>
              </a:spcAft>
              <a:buSzPts val="1500"/>
              <a:buAutoNum type="arabicPeriod"/>
            </a:pPr>
            <a:r>
              <a:rPr lang="en"/>
              <a:t>Take input from the user some crypto news (i.e. a Tweet or a full article) he/she wants to verify.</a:t>
            </a:r>
            <a:endParaRPr/>
          </a:p>
          <a:p>
            <a:pPr indent="-323850" lvl="0" marL="457200" rtl="0" algn="l">
              <a:spcBef>
                <a:spcPts val="0"/>
              </a:spcBef>
              <a:spcAft>
                <a:spcPts val="0"/>
              </a:spcAft>
              <a:buSzPts val="1500"/>
              <a:buAutoNum type="arabicPeriod"/>
            </a:pPr>
            <a:r>
              <a:rPr lang="en"/>
              <a:t>We apply basic filters to check the article has enough word count and is from the crypto space.</a:t>
            </a:r>
            <a:endParaRPr/>
          </a:p>
          <a:p>
            <a:pPr indent="-323850" lvl="0" marL="457200" rtl="0" algn="l">
              <a:spcBef>
                <a:spcPts val="0"/>
              </a:spcBef>
              <a:spcAft>
                <a:spcPts val="0"/>
              </a:spcAft>
              <a:buSzPts val="1500"/>
              <a:buAutoNum type="arabicPeriod"/>
            </a:pPr>
            <a:r>
              <a:rPr lang="en"/>
              <a:t>If the input passes these filters, we process the input to create a bag of words.</a:t>
            </a:r>
            <a:endParaRPr/>
          </a:p>
          <a:p>
            <a:pPr indent="-323850" lvl="0" marL="457200" rtl="0" algn="l">
              <a:spcBef>
                <a:spcPts val="0"/>
              </a:spcBef>
              <a:spcAft>
                <a:spcPts val="0"/>
              </a:spcAft>
              <a:buSzPts val="1500"/>
              <a:buAutoNum type="arabicPeriod"/>
            </a:pPr>
            <a:r>
              <a:rPr lang="en"/>
              <a:t>We then separately query our KBs (i.e. Google, Twitter, EtherScan) with the prominent key words, retrieving the top results to analyze and compare with the input article using TF-IDF.</a:t>
            </a:r>
            <a:endParaRPr/>
          </a:p>
          <a:p>
            <a:pPr indent="0" lvl="0" marL="0" rtl="0" algn="l">
              <a:spcBef>
                <a:spcPts val="1200"/>
              </a:spcBef>
              <a:spcAft>
                <a:spcPts val="0"/>
              </a:spcAft>
              <a:buNone/>
            </a:pPr>
            <a:r>
              <a:t/>
            </a:r>
            <a:endParaRPr i="1"/>
          </a:p>
          <a:p>
            <a:pPr indent="0" lvl="0" marL="0" rtl="0" algn="l">
              <a:spcBef>
                <a:spcPts val="0"/>
              </a:spcBef>
              <a:spcAft>
                <a:spcPts val="0"/>
              </a:spcAft>
              <a:buNone/>
            </a:pPr>
            <a:r>
              <a:t/>
            </a:r>
            <a:endParaRPr i="1"/>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94" name="Shape 194"/>
        <p:cNvGrpSpPr/>
        <p:nvPr/>
      </p:nvGrpSpPr>
      <p:grpSpPr>
        <a:xfrm>
          <a:off x="0" y="0"/>
          <a:ext cx="0" cy="0"/>
          <a:chOff x="0" y="0"/>
          <a:chExt cx="0" cy="0"/>
        </a:xfrm>
      </p:grpSpPr>
      <p:sp>
        <p:nvSpPr>
          <p:cNvPr id="195" name="Google Shape;195;p30"/>
          <p:cNvSpPr txBox="1"/>
          <p:nvPr>
            <p:ph type="title"/>
          </p:nvPr>
        </p:nvSpPr>
        <p:spPr>
          <a:xfrm>
            <a:off x="729450" y="6560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Methodology</a:t>
            </a:r>
            <a:endParaRPr/>
          </a:p>
        </p:txBody>
      </p:sp>
      <p:sp>
        <p:nvSpPr>
          <p:cNvPr id="196" name="Google Shape;196;p30"/>
          <p:cNvSpPr txBox="1"/>
          <p:nvPr>
            <p:ph idx="1" type="body"/>
          </p:nvPr>
        </p:nvSpPr>
        <p:spPr>
          <a:xfrm>
            <a:off x="729450" y="1347625"/>
            <a:ext cx="7785600" cy="3368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Our proposed methodology as we began our research was as follows:</a:t>
            </a:r>
            <a:endParaRPr/>
          </a:p>
          <a:p>
            <a:pPr indent="-323850" lvl="0" marL="457200" rtl="0" algn="l">
              <a:spcBef>
                <a:spcPts val="0"/>
              </a:spcBef>
              <a:spcAft>
                <a:spcPts val="0"/>
              </a:spcAft>
              <a:buSzPts val="1500"/>
              <a:buAutoNum type="arabicPeriod"/>
            </a:pPr>
            <a:r>
              <a:rPr lang="en"/>
              <a:t>Take input from the user some crypto news (i.e. a Tweet or a full article) he/she wants to verify.</a:t>
            </a:r>
            <a:endParaRPr/>
          </a:p>
          <a:p>
            <a:pPr indent="-323850" lvl="0" marL="457200" rtl="0" algn="l">
              <a:spcBef>
                <a:spcPts val="0"/>
              </a:spcBef>
              <a:spcAft>
                <a:spcPts val="0"/>
              </a:spcAft>
              <a:buSzPts val="1500"/>
              <a:buAutoNum type="arabicPeriod"/>
            </a:pPr>
            <a:r>
              <a:rPr lang="en"/>
              <a:t>We apply basic filters to check the article has enough word count and is from the crypto space.</a:t>
            </a:r>
            <a:endParaRPr/>
          </a:p>
          <a:p>
            <a:pPr indent="-323850" lvl="0" marL="457200" rtl="0" algn="l">
              <a:spcBef>
                <a:spcPts val="0"/>
              </a:spcBef>
              <a:spcAft>
                <a:spcPts val="0"/>
              </a:spcAft>
              <a:buSzPts val="1500"/>
              <a:buAutoNum type="arabicPeriod"/>
            </a:pPr>
            <a:r>
              <a:rPr lang="en"/>
              <a:t>If the input passes these filters, we process the input to create a bag of words.</a:t>
            </a:r>
            <a:endParaRPr/>
          </a:p>
          <a:p>
            <a:pPr indent="-323850" lvl="0" marL="457200" rtl="0" algn="l">
              <a:spcBef>
                <a:spcPts val="0"/>
              </a:spcBef>
              <a:spcAft>
                <a:spcPts val="0"/>
              </a:spcAft>
              <a:buSzPts val="1500"/>
              <a:buAutoNum type="arabicPeriod"/>
            </a:pPr>
            <a:r>
              <a:rPr lang="en"/>
              <a:t>We then separately query our KBs (i.e. Google, Twitter, EtherScan) with the prominent key words, retrieving the top results to analyze and compare with the input article using TF-IDF.</a:t>
            </a:r>
            <a:endParaRPr/>
          </a:p>
          <a:p>
            <a:pPr indent="-323850" lvl="0" marL="457200" rtl="0" algn="l">
              <a:spcBef>
                <a:spcPts val="0"/>
              </a:spcBef>
              <a:spcAft>
                <a:spcPts val="0"/>
              </a:spcAft>
              <a:buSzPts val="1500"/>
              <a:buAutoNum type="arabicPeriod"/>
            </a:pPr>
            <a:r>
              <a:rPr lang="en"/>
              <a:t>With these we calculate a cosine similarity score from 0.0 to 1.0 for each query result. </a:t>
            </a:r>
            <a:endParaRPr/>
          </a:p>
          <a:p>
            <a:pPr indent="0" lvl="0" marL="0" rtl="0" algn="l">
              <a:spcBef>
                <a:spcPts val="0"/>
              </a:spcBef>
              <a:spcAft>
                <a:spcPts val="0"/>
              </a:spcAft>
              <a:buNone/>
            </a:pPr>
            <a:r>
              <a:t/>
            </a:r>
            <a:endParaRPr i="1"/>
          </a:p>
          <a:p>
            <a:pPr indent="0" lvl="0" marL="0" rtl="0" algn="l">
              <a:spcBef>
                <a:spcPts val="0"/>
              </a:spcBef>
              <a:spcAft>
                <a:spcPts val="0"/>
              </a:spcAft>
              <a:buNone/>
            </a:pPr>
            <a:r>
              <a:t/>
            </a:r>
            <a:endParaRPr i="1"/>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00" name="Shape 200"/>
        <p:cNvGrpSpPr/>
        <p:nvPr/>
      </p:nvGrpSpPr>
      <p:grpSpPr>
        <a:xfrm>
          <a:off x="0" y="0"/>
          <a:ext cx="0" cy="0"/>
          <a:chOff x="0" y="0"/>
          <a:chExt cx="0" cy="0"/>
        </a:xfrm>
      </p:grpSpPr>
      <p:sp>
        <p:nvSpPr>
          <p:cNvPr id="201" name="Google Shape;201;p31"/>
          <p:cNvSpPr txBox="1"/>
          <p:nvPr>
            <p:ph type="title"/>
          </p:nvPr>
        </p:nvSpPr>
        <p:spPr>
          <a:xfrm>
            <a:off x="729450" y="6560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Methodology</a:t>
            </a:r>
            <a:endParaRPr/>
          </a:p>
        </p:txBody>
      </p:sp>
      <p:sp>
        <p:nvSpPr>
          <p:cNvPr id="202" name="Google Shape;202;p31"/>
          <p:cNvSpPr txBox="1"/>
          <p:nvPr>
            <p:ph idx="1" type="body"/>
          </p:nvPr>
        </p:nvSpPr>
        <p:spPr>
          <a:xfrm>
            <a:off x="729450" y="1347625"/>
            <a:ext cx="7785600" cy="3368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Our proposed methodology as we began our research was as follows:</a:t>
            </a:r>
            <a:endParaRPr/>
          </a:p>
          <a:p>
            <a:pPr indent="-323850" lvl="0" marL="457200" rtl="0" algn="l">
              <a:spcBef>
                <a:spcPts val="0"/>
              </a:spcBef>
              <a:spcAft>
                <a:spcPts val="0"/>
              </a:spcAft>
              <a:buSzPts val="1500"/>
              <a:buAutoNum type="arabicPeriod"/>
            </a:pPr>
            <a:r>
              <a:rPr lang="en"/>
              <a:t>Take input from the user some crypto news (i.e. a Tweet or a full article) he/she wants to verify.</a:t>
            </a:r>
            <a:endParaRPr/>
          </a:p>
          <a:p>
            <a:pPr indent="-323850" lvl="0" marL="457200" rtl="0" algn="l">
              <a:spcBef>
                <a:spcPts val="0"/>
              </a:spcBef>
              <a:spcAft>
                <a:spcPts val="0"/>
              </a:spcAft>
              <a:buSzPts val="1500"/>
              <a:buAutoNum type="arabicPeriod"/>
            </a:pPr>
            <a:r>
              <a:rPr lang="en"/>
              <a:t>We apply basic filters to check the article has enough word count and is from the crypto space.</a:t>
            </a:r>
            <a:endParaRPr/>
          </a:p>
          <a:p>
            <a:pPr indent="-323850" lvl="0" marL="457200" rtl="0" algn="l">
              <a:spcBef>
                <a:spcPts val="0"/>
              </a:spcBef>
              <a:spcAft>
                <a:spcPts val="0"/>
              </a:spcAft>
              <a:buSzPts val="1500"/>
              <a:buAutoNum type="arabicPeriod"/>
            </a:pPr>
            <a:r>
              <a:rPr lang="en"/>
              <a:t>If the input passes these filters, we process the input to create a bag of words.</a:t>
            </a:r>
            <a:endParaRPr/>
          </a:p>
          <a:p>
            <a:pPr indent="-323850" lvl="0" marL="457200" rtl="0" algn="l">
              <a:spcBef>
                <a:spcPts val="0"/>
              </a:spcBef>
              <a:spcAft>
                <a:spcPts val="0"/>
              </a:spcAft>
              <a:buSzPts val="1500"/>
              <a:buAutoNum type="arabicPeriod"/>
            </a:pPr>
            <a:r>
              <a:rPr lang="en"/>
              <a:t>We then separately query our KBs (i.e. Google, Twitter, EtherScan) with the prominent key words, retrieving the top results to analyze and compare with the input article using TF-IDF.</a:t>
            </a:r>
            <a:endParaRPr/>
          </a:p>
          <a:p>
            <a:pPr indent="-323850" lvl="0" marL="457200" rtl="0" algn="l">
              <a:spcBef>
                <a:spcPts val="0"/>
              </a:spcBef>
              <a:spcAft>
                <a:spcPts val="0"/>
              </a:spcAft>
              <a:buSzPts val="1500"/>
              <a:buAutoNum type="arabicPeriod"/>
            </a:pPr>
            <a:r>
              <a:rPr lang="en"/>
              <a:t>With these we calculate a cosine similarity score from 0.0 to 1.0 for each query result. </a:t>
            </a:r>
            <a:endParaRPr/>
          </a:p>
          <a:p>
            <a:pPr indent="0" lvl="0" marL="0" rtl="0" algn="l">
              <a:spcBef>
                <a:spcPts val="0"/>
              </a:spcBef>
              <a:spcAft>
                <a:spcPts val="0"/>
              </a:spcAft>
              <a:buNone/>
            </a:pPr>
            <a:r>
              <a:rPr i="1" lang="en"/>
              <a:t>Testing our approach on some fake news, we observed high similarity scores with articles that reported the input as being fake, so we added the following step:</a:t>
            </a:r>
            <a:endParaRPr i="1"/>
          </a:p>
          <a:p>
            <a:pPr indent="-323850" lvl="0" marL="457200" rtl="0" algn="l">
              <a:spcBef>
                <a:spcPts val="0"/>
              </a:spcBef>
              <a:spcAft>
                <a:spcPts val="0"/>
              </a:spcAft>
              <a:buSzPts val="1500"/>
              <a:buAutoNum type="arabicPeriod" startAt="6"/>
            </a:pPr>
            <a:r>
              <a:rPr lang="en"/>
              <a:t>We divide each similarity score by the number of words found in the evidence which indicate true reporting about fake news, unless the input text contains these words too</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2"/>
          <p:cNvSpPr txBox="1"/>
          <p:nvPr>
            <p:ph type="title"/>
          </p:nvPr>
        </p:nvSpPr>
        <p:spPr>
          <a:xfrm>
            <a:off x="729450" y="6560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Methodology</a:t>
            </a:r>
            <a:endParaRPr/>
          </a:p>
        </p:txBody>
      </p:sp>
      <p:sp>
        <p:nvSpPr>
          <p:cNvPr id="208" name="Google Shape;208;p32"/>
          <p:cNvSpPr txBox="1"/>
          <p:nvPr>
            <p:ph idx="1" type="body"/>
          </p:nvPr>
        </p:nvSpPr>
        <p:spPr>
          <a:xfrm>
            <a:off x="729450" y="1347625"/>
            <a:ext cx="7785600" cy="3368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Our proposed methodology as we began our research was as follows:</a:t>
            </a:r>
            <a:endParaRPr/>
          </a:p>
          <a:p>
            <a:pPr indent="-323850" lvl="0" marL="457200" rtl="0" algn="l">
              <a:spcBef>
                <a:spcPts val="0"/>
              </a:spcBef>
              <a:spcAft>
                <a:spcPts val="0"/>
              </a:spcAft>
              <a:buSzPts val="1500"/>
              <a:buAutoNum type="arabicPeriod"/>
            </a:pPr>
            <a:r>
              <a:rPr lang="en"/>
              <a:t>Take </a:t>
            </a:r>
            <a:r>
              <a:rPr b="1" lang="en"/>
              <a:t>input </a:t>
            </a:r>
            <a:r>
              <a:rPr lang="en"/>
              <a:t>from the user, i.e. some crypto news (i.e. a Tweet or a full article) to verify.</a:t>
            </a:r>
            <a:endParaRPr/>
          </a:p>
          <a:p>
            <a:pPr indent="-323850" lvl="0" marL="457200" rtl="0" algn="l">
              <a:spcBef>
                <a:spcPts val="0"/>
              </a:spcBef>
              <a:spcAft>
                <a:spcPts val="0"/>
              </a:spcAft>
              <a:buSzPts val="1500"/>
              <a:buAutoNum type="arabicPeriod"/>
            </a:pPr>
            <a:r>
              <a:rPr lang="en"/>
              <a:t>Apply basic filters to check if it has sufficient </a:t>
            </a:r>
            <a:r>
              <a:rPr b="1" lang="en"/>
              <a:t>word count</a:t>
            </a:r>
            <a:r>
              <a:rPr lang="en"/>
              <a:t> and is from the </a:t>
            </a:r>
            <a:r>
              <a:rPr b="1" lang="en"/>
              <a:t>crypto space</a:t>
            </a:r>
            <a:r>
              <a:rPr lang="en"/>
              <a:t>.</a:t>
            </a:r>
            <a:endParaRPr/>
          </a:p>
          <a:p>
            <a:pPr indent="-323850" lvl="0" marL="457200" rtl="0" algn="l">
              <a:spcBef>
                <a:spcPts val="0"/>
              </a:spcBef>
              <a:spcAft>
                <a:spcPts val="0"/>
              </a:spcAft>
              <a:buSzPts val="1500"/>
              <a:buAutoNum type="arabicPeriod"/>
            </a:pPr>
            <a:r>
              <a:rPr lang="en"/>
              <a:t>If the input passes these filters, process the input to create a </a:t>
            </a:r>
            <a:r>
              <a:rPr b="1" lang="en"/>
              <a:t>bag of words</a:t>
            </a:r>
            <a:r>
              <a:rPr lang="en"/>
              <a:t>.</a:t>
            </a:r>
            <a:endParaRPr/>
          </a:p>
          <a:p>
            <a:pPr indent="-323850" lvl="0" marL="457200" rtl="0" algn="l">
              <a:spcBef>
                <a:spcPts val="0"/>
              </a:spcBef>
              <a:spcAft>
                <a:spcPts val="0"/>
              </a:spcAft>
              <a:buSzPts val="1500"/>
              <a:buAutoNum type="arabicPeriod"/>
            </a:pPr>
            <a:r>
              <a:rPr lang="en"/>
              <a:t>Separately </a:t>
            </a:r>
            <a:r>
              <a:rPr b="1" lang="en"/>
              <a:t>query our KBs</a:t>
            </a:r>
            <a:r>
              <a:rPr lang="en"/>
              <a:t> (i.e. Google) with the prominent key words, retrieving the top results to analyze and </a:t>
            </a:r>
            <a:r>
              <a:rPr b="1" lang="en"/>
              <a:t>compare with the input article using TF-IDF</a:t>
            </a:r>
            <a:r>
              <a:rPr lang="en"/>
              <a:t>.</a:t>
            </a:r>
            <a:endParaRPr/>
          </a:p>
          <a:p>
            <a:pPr indent="-323850" lvl="0" marL="457200" rtl="0" algn="l">
              <a:spcBef>
                <a:spcPts val="0"/>
              </a:spcBef>
              <a:spcAft>
                <a:spcPts val="0"/>
              </a:spcAft>
              <a:buSzPts val="1500"/>
              <a:buAutoNum type="arabicPeriod"/>
            </a:pPr>
            <a:r>
              <a:rPr lang="en"/>
              <a:t>With these, calculate a </a:t>
            </a:r>
            <a:r>
              <a:rPr b="1" lang="en"/>
              <a:t>cosine similarity</a:t>
            </a:r>
            <a:r>
              <a:rPr lang="en"/>
              <a:t> score from 0.0 to 1.0 </a:t>
            </a:r>
            <a:r>
              <a:rPr b="1" lang="en"/>
              <a:t>for each query result</a:t>
            </a:r>
            <a:r>
              <a:rPr lang="en"/>
              <a:t>. </a:t>
            </a:r>
            <a:endParaRPr/>
          </a:p>
          <a:p>
            <a:pPr indent="0" lvl="0" marL="0" rtl="0" algn="l">
              <a:spcBef>
                <a:spcPts val="0"/>
              </a:spcBef>
              <a:spcAft>
                <a:spcPts val="0"/>
              </a:spcAft>
              <a:buNone/>
            </a:pPr>
            <a:r>
              <a:rPr i="1" lang="en"/>
              <a:t>Testing our approach on some fake news, we observed high similarity scores with articles that reported the input as being fake, so we added the following step:</a:t>
            </a:r>
            <a:endParaRPr i="1"/>
          </a:p>
          <a:p>
            <a:pPr indent="-323850" lvl="0" marL="457200" rtl="0" algn="l">
              <a:spcBef>
                <a:spcPts val="0"/>
              </a:spcBef>
              <a:spcAft>
                <a:spcPts val="0"/>
              </a:spcAft>
              <a:buSzPts val="1500"/>
              <a:buAutoNum type="arabicPeriod" startAt="6"/>
            </a:pPr>
            <a:r>
              <a:rPr b="1" lang="en"/>
              <a:t>D</a:t>
            </a:r>
            <a:r>
              <a:rPr b="1" lang="en"/>
              <a:t>ivide</a:t>
            </a:r>
            <a:r>
              <a:rPr lang="en"/>
              <a:t> each score by the </a:t>
            </a:r>
            <a:r>
              <a:rPr b="1" lang="en"/>
              <a:t>number of </a:t>
            </a:r>
            <a:r>
              <a:rPr b="1" i="1" lang="en"/>
              <a:t>“fake news” words</a:t>
            </a:r>
            <a:r>
              <a:rPr lang="en"/>
              <a:t> found in the evidence, i.e. which indicate true report</a:t>
            </a:r>
            <a:r>
              <a:rPr lang="en"/>
              <a:t>ing</a:t>
            </a:r>
            <a:r>
              <a:rPr lang="en"/>
              <a:t> about fake news, unless the input contains the</a:t>
            </a:r>
            <a:r>
              <a:rPr lang="en"/>
              <a:t>se</a:t>
            </a:r>
            <a:r>
              <a:rPr lang="en"/>
              <a:t> words too. These “fake news” words include: </a:t>
            </a:r>
            <a:r>
              <a:rPr i="1" lang="en"/>
              <a:t>“fake news”, “hoax”, “scam”, “illegitimate”, “false”, etc.</a:t>
            </a:r>
            <a:endParaRPr i="1"/>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8">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3"/>
          <p:cNvSpPr txBox="1"/>
          <p:nvPr>
            <p:ph type="title"/>
          </p:nvPr>
        </p:nvSpPr>
        <p:spPr>
          <a:xfrm>
            <a:off x="729450" y="6560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Methodology</a:t>
            </a:r>
            <a:endParaRPr/>
          </a:p>
        </p:txBody>
      </p:sp>
      <p:pic>
        <p:nvPicPr>
          <p:cNvPr id="214" name="Google Shape;214;p33"/>
          <p:cNvPicPr preferRelativeResize="0"/>
          <p:nvPr/>
        </p:nvPicPr>
        <p:blipFill>
          <a:blip r:embed="rId3">
            <a:alphaModFix/>
          </a:blip>
          <a:stretch>
            <a:fillRect/>
          </a:stretch>
        </p:blipFill>
        <p:spPr>
          <a:xfrm>
            <a:off x="833963" y="656050"/>
            <a:ext cx="7348324" cy="44183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4"/>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Test Results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5"/>
          <p:cNvSpPr txBox="1"/>
          <p:nvPr>
            <p:ph type="title"/>
          </p:nvPr>
        </p:nvSpPr>
        <p:spPr>
          <a:xfrm>
            <a:off x="729450" y="6560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Results</a:t>
            </a:r>
            <a:endParaRPr/>
          </a:p>
        </p:txBody>
      </p:sp>
      <p:sp>
        <p:nvSpPr>
          <p:cNvPr id="225" name="Google Shape;225;p35"/>
          <p:cNvSpPr txBox="1"/>
          <p:nvPr>
            <p:ph idx="1" type="body"/>
          </p:nvPr>
        </p:nvSpPr>
        <p:spPr>
          <a:xfrm>
            <a:off x="729450" y="1359500"/>
            <a:ext cx="7688700" cy="3500400"/>
          </a:xfrm>
          <a:prstGeom prst="rect">
            <a:avLst/>
          </a:prstGeom>
          <a:solidFill>
            <a:schemeClr val="lt2"/>
          </a:solidFill>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sz="900">
                <a:solidFill>
                  <a:srgbClr val="000000"/>
                </a:solidFill>
                <a:latin typeface="Inconsolata"/>
                <a:ea typeface="Inconsolata"/>
                <a:cs typeface="Inconsolata"/>
                <a:sym typeface="Inconsolata"/>
              </a:rPr>
              <a:t>Query Text :  india has officially adopted bitcoin as legal tender the government has officially bought 500 btc and is distributing them to all residents of the country</a:t>
            </a:r>
            <a:endParaRPr sz="900">
              <a:solidFill>
                <a:srgbClr val="000000"/>
              </a:solidFill>
              <a:latin typeface="Inconsolata"/>
              <a:ea typeface="Inconsolata"/>
              <a:cs typeface="Inconsolata"/>
              <a:sym typeface="Inconsolata"/>
            </a:endParaRPr>
          </a:p>
          <a:p>
            <a:pPr indent="0" lvl="0" marL="0" rtl="0" algn="l">
              <a:spcBef>
                <a:spcPts val="0"/>
              </a:spcBef>
              <a:spcAft>
                <a:spcPts val="0"/>
              </a:spcAft>
              <a:buNone/>
            </a:pPr>
            <a:r>
              <a:rPr lang="en" sz="900">
                <a:solidFill>
                  <a:srgbClr val="000000"/>
                </a:solidFill>
                <a:latin typeface="Inconsolata"/>
                <a:ea typeface="Inconsolata"/>
                <a:cs typeface="Inconsolata"/>
                <a:sym typeface="Inconsolata"/>
              </a:rPr>
              <a:t>~~~~~~~~~~~~~~~~~~~~~~~~~~~~~~~~~~~Final results~~~~~~~~~~~~~~~~~~~~~~~~~~~~~~~~~~~~~~~~~</a:t>
            </a:r>
            <a:endParaRPr sz="900">
              <a:solidFill>
                <a:srgbClr val="000000"/>
              </a:solidFill>
              <a:latin typeface="Inconsolata"/>
              <a:ea typeface="Inconsolata"/>
              <a:cs typeface="Inconsolata"/>
              <a:sym typeface="Inconsolata"/>
            </a:endParaRPr>
          </a:p>
          <a:p>
            <a:pPr indent="0" lvl="0" marL="0" rtl="0" algn="l">
              <a:spcBef>
                <a:spcPts val="0"/>
              </a:spcBef>
              <a:spcAft>
                <a:spcPts val="0"/>
              </a:spcAft>
              <a:buNone/>
            </a:pPr>
            <a:r>
              <a:rPr lang="en" sz="900">
                <a:solidFill>
                  <a:srgbClr val="000000"/>
                </a:solidFill>
                <a:latin typeface="Inconsolata"/>
                <a:ea typeface="Inconsolata"/>
                <a:cs typeface="Inconsolata"/>
                <a:sym typeface="Inconsolata"/>
              </a:rPr>
              <a:t>Evidence  0 :  Indian Prime Minister Narendra Modi's Twitter handle was compromised for a brief period on Saturday.The account was restored after sharing a link promising a Bitcoin BTC/USD giveaway.When it was hacked, misleading information was shared </a:t>
            </a:r>
            <a:r>
              <a:rPr lang="en" sz="900">
                <a:solidFill>
                  <a:srgbClr val="000000"/>
                </a:solidFill>
                <a:latin typeface="Inconsolata"/>
                <a:ea typeface="Inconsolata"/>
                <a:cs typeface="Inconsolata"/>
                <a:sym typeface="Inconsolata"/>
              </a:rPr>
              <a:t>...</a:t>
            </a:r>
            <a:endParaRPr sz="900">
              <a:solidFill>
                <a:srgbClr val="000000"/>
              </a:solidFill>
              <a:latin typeface="Inconsolata"/>
              <a:ea typeface="Inconsolata"/>
              <a:cs typeface="Inconsolata"/>
              <a:sym typeface="Inconsolata"/>
            </a:endParaRPr>
          </a:p>
          <a:p>
            <a:pPr indent="0" lvl="0" marL="0" rtl="0" algn="l">
              <a:spcBef>
                <a:spcPts val="0"/>
              </a:spcBef>
              <a:spcAft>
                <a:spcPts val="0"/>
              </a:spcAft>
              <a:buNone/>
            </a:pPr>
            <a:r>
              <a:rPr lang="en" sz="900">
                <a:solidFill>
                  <a:srgbClr val="000000"/>
                </a:solidFill>
                <a:latin typeface="Inconsolata"/>
                <a:ea typeface="Inconsolata"/>
                <a:cs typeface="Inconsolata"/>
                <a:sym typeface="Inconsolata"/>
              </a:rPr>
              <a:t>Url:  </a:t>
            </a:r>
            <a:r>
              <a:rPr lang="en" sz="900" u="sng">
                <a:solidFill>
                  <a:schemeClr val="hlink"/>
                </a:solidFill>
                <a:latin typeface="Inconsolata"/>
                <a:ea typeface="Inconsolata"/>
                <a:cs typeface="Inconsolata"/>
                <a:sym typeface="Inconsolata"/>
                <a:hlinkClick r:id="rId3"/>
              </a:rPr>
              <a:t>https://www.benzinga.com/markets/cryptocurrency/21/12/24562022/indian-prime-minister-modis-twitter-handle-hacked-falsely-... </a:t>
            </a:r>
            <a:endParaRPr sz="900">
              <a:solidFill>
                <a:srgbClr val="000000"/>
              </a:solidFill>
              <a:latin typeface="Inconsolata"/>
              <a:ea typeface="Inconsolata"/>
              <a:cs typeface="Inconsolata"/>
              <a:sym typeface="Inconsolata"/>
            </a:endParaRPr>
          </a:p>
          <a:p>
            <a:pPr indent="0" lvl="0" marL="0" rtl="0" algn="l">
              <a:spcBef>
                <a:spcPts val="0"/>
              </a:spcBef>
              <a:spcAft>
                <a:spcPts val="0"/>
              </a:spcAft>
              <a:buNone/>
            </a:pPr>
            <a:r>
              <a:rPr lang="en" sz="900">
                <a:solidFill>
                  <a:srgbClr val="000000"/>
                </a:solidFill>
                <a:latin typeface="Inconsolata"/>
                <a:ea typeface="Inconsolata"/>
                <a:cs typeface="Inconsolata"/>
                <a:sym typeface="Inconsolata"/>
              </a:rPr>
              <a:t>Cosine Value:  0.05930240666005259</a:t>
            </a:r>
            <a:endParaRPr sz="900">
              <a:solidFill>
                <a:srgbClr val="000000"/>
              </a:solidFill>
              <a:latin typeface="Inconsolata"/>
              <a:ea typeface="Inconsolata"/>
              <a:cs typeface="Inconsolata"/>
              <a:sym typeface="Inconsolata"/>
            </a:endParaRPr>
          </a:p>
          <a:p>
            <a:pPr indent="0" lvl="0" marL="0" rtl="0" algn="l">
              <a:spcBef>
                <a:spcPts val="0"/>
              </a:spcBef>
              <a:spcAft>
                <a:spcPts val="0"/>
              </a:spcAft>
              <a:buNone/>
            </a:pPr>
            <a:r>
              <a:t/>
            </a:r>
            <a:endParaRPr sz="900">
              <a:solidFill>
                <a:srgbClr val="000000"/>
              </a:solidFill>
              <a:latin typeface="Inconsolata"/>
              <a:ea typeface="Inconsolata"/>
              <a:cs typeface="Inconsolata"/>
              <a:sym typeface="Inconsolata"/>
            </a:endParaRPr>
          </a:p>
          <a:p>
            <a:pPr indent="0" lvl="0" marL="0" rtl="0" algn="l">
              <a:spcBef>
                <a:spcPts val="0"/>
              </a:spcBef>
              <a:spcAft>
                <a:spcPts val="0"/>
              </a:spcAft>
              <a:buNone/>
            </a:pPr>
            <a:r>
              <a:rPr lang="en" sz="900">
                <a:solidFill>
                  <a:srgbClr val="000000"/>
                </a:solidFill>
                <a:latin typeface="Inconsolata"/>
                <a:ea typeface="Inconsolata"/>
                <a:cs typeface="Inconsolata"/>
                <a:sym typeface="Inconsolata"/>
              </a:rPr>
              <a:t>Evidence  1 :  A tweet claiming that India has 'officially adopted bitcoin as legal tender' and bought 500 BTC and is distributing them among its residents was put out from itPrime Minister Narendra Modi's Twitter handle was briefly hacked on Sunday, and a ...</a:t>
            </a:r>
            <a:endParaRPr sz="900">
              <a:solidFill>
                <a:srgbClr val="000000"/>
              </a:solidFill>
              <a:latin typeface="Inconsolata"/>
              <a:ea typeface="Inconsolata"/>
              <a:cs typeface="Inconsolata"/>
              <a:sym typeface="Inconsolata"/>
            </a:endParaRPr>
          </a:p>
          <a:p>
            <a:pPr indent="0" lvl="0" marL="0" rtl="0" algn="l">
              <a:spcBef>
                <a:spcPts val="0"/>
              </a:spcBef>
              <a:spcAft>
                <a:spcPts val="0"/>
              </a:spcAft>
              <a:buNone/>
            </a:pPr>
            <a:r>
              <a:rPr lang="en" sz="900">
                <a:solidFill>
                  <a:srgbClr val="000000"/>
                </a:solidFill>
                <a:latin typeface="Inconsolata"/>
                <a:ea typeface="Inconsolata"/>
                <a:cs typeface="Inconsolata"/>
                <a:sym typeface="Inconsolata"/>
              </a:rPr>
              <a:t>Url:  </a:t>
            </a:r>
            <a:r>
              <a:rPr lang="en" sz="900" u="sng">
                <a:solidFill>
                  <a:schemeClr val="hlink"/>
                </a:solidFill>
                <a:latin typeface="Inconsolata"/>
                <a:ea typeface="Inconsolata"/>
                <a:cs typeface="Inconsolata"/>
                <a:sym typeface="Inconsolata"/>
                <a:hlinkClick r:id="rId4"/>
              </a:rPr>
              <a:t>https://www.firstpost.com/india/pm-narendra-modis-personal-twitter-handle-very-briefly-compromised-later-secured-pmo-...</a:t>
            </a:r>
            <a:r>
              <a:rPr lang="en" sz="900">
                <a:solidFill>
                  <a:srgbClr val="000000"/>
                </a:solidFill>
                <a:latin typeface="Inconsolata"/>
                <a:ea typeface="Inconsolata"/>
                <a:cs typeface="Inconsolata"/>
                <a:sym typeface="Inconsolata"/>
              </a:rPr>
              <a:t> </a:t>
            </a:r>
            <a:endParaRPr sz="900">
              <a:solidFill>
                <a:srgbClr val="000000"/>
              </a:solidFill>
              <a:latin typeface="Inconsolata"/>
              <a:ea typeface="Inconsolata"/>
              <a:cs typeface="Inconsolata"/>
              <a:sym typeface="Inconsolata"/>
            </a:endParaRPr>
          </a:p>
          <a:p>
            <a:pPr indent="0" lvl="0" marL="0" rtl="0" algn="l">
              <a:spcBef>
                <a:spcPts val="0"/>
              </a:spcBef>
              <a:spcAft>
                <a:spcPts val="0"/>
              </a:spcAft>
              <a:buNone/>
            </a:pPr>
            <a:r>
              <a:rPr lang="en" sz="900">
                <a:solidFill>
                  <a:srgbClr val="000000"/>
                </a:solidFill>
                <a:latin typeface="Inconsolata"/>
                <a:ea typeface="Inconsolata"/>
                <a:cs typeface="Inconsolata"/>
                <a:sym typeface="Inconsolata"/>
              </a:rPr>
              <a:t>Cosine Value:  0.04119176549959819</a:t>
            </a:r>
            <a:endParaRPr sz="900">
              <a:solidFill>
                <a:srgbClr val="000000"/>
              </a:solidFill>
              <a:latin typeface="Inconsolata"/>
              <a:ea typeface="Inconsolata"/>
              <a:cs typeface="Inconsolata"/>
              <a:sym typeface="Inconsolata"/>
            </a:endParaRPr>
          </a:p>
          <a:p>
            <a:pPr indent="0" lvl="0" marL="0" rtl="0" algn="l">
              <a:spcBef>
                <a:spcPts val="0"/>
              </a:spcBef>
              <a:spcAft>
                <a:spcPts val="0"/>
              </a:spcAft>
              <a:buNone/>
            </a:pPr>
            <a:r>
              <a:t/>
            </a:r>
            <a:endParaRPr sz="900">
              <a:solidFill>
                <a:srgbClr val="000000"/>
              </a:solidFill>
              <a:latin typeface="Inconsolata"/>
              <a:ea typeface="Inconsolata"/>
              <a:cs typeface="Inconsolata"/>
              <a:sym typeface="Inconsolata"/>
            </a:endParaRPr>
          </a:p>
          <a:p>
            <a:pPr indent="0" lvl="0" marL="0" rtl="0" algn="l">
              <a:spcBef>
                <a:spcPts val="0"/>
              </a:spcBef>
              <a:spcAft>
                <a:spcPts val="0"/>
              </a:spcAft>
              <a:buNone/>
            </a:pPr>
            <a:r>
              <a:rPr lang="en" sz="900">
                <a:solidFill>
                  <a:srgbClr val="000000"/>
                </a:solidFill>
                <a:latin typeface="Inconsolata"/>
                <a:ea typeface="Inconsolata"/>
                <a:cs typeface="Inconsolata"/>
                <a:sym typeface="Inconsolata"/>
              </a:rPr>
              <a:t>Evidence  2 :  The tweet, after Prime Minister Narendra Modi's personal handle was hacked, also claimed that India has officially bought 500 BTC and is distributing them among its residents.Prime Minister Narendra Modi's Twitter handle was briefly hacked ...</a:t>
            </a:r>
            <a:endParaRPr sz="900">
              <a:solidFill>
                <a:srgbClr val="000000"/>
              </a:solidFill>
              <a:latin typeface="Inconsolata"/>
              <a:ea typeface="Inconsolata"/>
              <a:cs typeface="Inconsolata"/>
              <a:sym typeface="Inconsolata"/>
            </a:endParaRPr>
          </a:p>
          <a:p>
            <a:pPr indent="0" lvl="0" marL="0" rtl="0" algn="l">
              <a:spcBef>
                <a:spcPts val="0"/>
              </a:spcBef>
              <a:spcAft>
                <a:spcPts val="0"/>
              </a:spcAft>
              <a:buNone/>
            </a:pPr>
            <a:r>
              <a:rPr lang="en" sz="900">
                <a:solidFill>
                  <a:srgbClr val="000000"/>
                </a:solidFill>
                <a:latin typeface="Inconsolata"/>
                <a:ea typeface="Inconsolata"/>
                <a:cs typeface="Inconsolata"/>
                <a:sym typeface="Inconsolata"/>
              </a:rPr>
              <a:t>Url:  </a:t>
            </a:r>
            <a:r>
              <a:rPr lang="en" sz="900" u="sng">
                <a:solidFill>
                  <a:schemeClr val="hlink"/>
                </a:solidFill>
                <a:latin typeface="Inconsolata"/>
                <a:ea typeface="Inconsolata"/>
                <a:cs typeface="Inconsolata"/>
                <a:sym typeface="Inconsolata"/>
                <a:hlinkClick r:id="rId5"/>
              </a:rPr>
              <a:t>https://www.thehindu.com/news/national/pm-modis-twitter-handle-very-briefly-compromised-later-secured-pmo/article37937402.ece</a:t>
            </a:r>
            <a:r>
              <a:rPr lang="en" sz="900">
                <a:solidFill>
                  <a:srgbClr val="000000"/>
                </a:solidFill>
                <a:latin typeface="Inconsolata"/>
                <a:ea typeface="Inconsolata"/>
                <a:cs typeface="Inconsolata"/>
                <a:sym typeface="Inconsolata"/>
              </a:rPr>
              <a:t> </a:t>
            </a:r>
            <a:endParaRPr sz="900">
              <a:solidFill>
                <a:srgbClr val="000000"/>
              </a:solidFill>
              <a:latin typeface="Inconsolata"/>
              <a:ea typeface="Inconsolata"/>
              <a:cs typeface="Inconsolata"/>
              <a:sym typeface="Inconsolata"/>
            </a:endParaRPr>
          </a:p>
          <a:p>
            <a:pPr indent="0" lvl="0" marL="0" rtl="0" algn="l">
              <a:spcBef>
                <a:spcPts val="0"/>
              </a:spcBef>
              <a:spcAft>
                <a:spcPts val="0"/>
              </a:spcAft>
              <a:buNone/>
            </a:pPr>
            <a:r>
              <a:rPr lang="en" sz="900">
                <a:solidFill>
                  <a:srgbClr val="000000"/>
                </a:solidFill>
                <a:latin typeface="Inconsolata"/>
                <a:ea typeface="Inconsolata"/>
                <a:cs typeface="Inconsolata"/>
                <a:sym typeface="Inconsolata"/>
              </a:rPr>
              <a:t>Cosine Value:  0.03994367663954965</a:t>
            </a:r>
            <a:endParaRPr sz="900">
              <a:solidFill>
                <a:srgbClr val="000000"/>
              </a:solidFill>
              <a:latin typeface="Inconsolata"/>
              <a:ea typeface="Inconsolata"/>
              <a:cs typeface="Inconsolata"/>
              <a:sym typeface="Inconsolata"/>
            </a:endParaRPr>
          </a:p>
          <a:p>
            <a:pPr indent="0" lvl="0" marL="0" rtl="0" algn="l">
              <a:spcBef>
                <a:spcPts val="0"/>
              </a:spcBef>
              <a:spcAft>
                <a:spcPts val="0"/>
              </a:spcAft>
              <a:buNone/>
            </a:pPr>
            <a:r>
              <a:t/>
            </a:r>
            <a:endParaRPr sz="900">
              <a:solidFill>
                <a:srgbClr val="000000"/>
              </a:solidFill>
              <a:latin typeface="Inconsolata"/>
              <a:ea typeface="Inconsolata"/>
              <a:cs typeface="Inconsolata"/>
              <a:sym typeface="Inconsolata"/>
            </a:endParaRPr>
          </a:p>
          <a:p>
            <a:pPr indent="0" lvl="0" marL="0" rtl="0" algn="l">
              <a:spcBef>
                <a:spcPts val="0"/>
              </a:spcBef>
              <a:spcAft>
                <a:spcPts val="0"/>
              </a:spcAft>
              <a:buNone/>
            </a:pPr>
            <a:r>
              <a:rPr lang="en" sz="900">
                <a:solidFill>
                  <a:srgbClr val="000000"/>
                </a:solidFill>
                <a:latin typeface="Inconsolata"/>
                <a:ea typeface="Inconsolata"/>
                <a:cs typeface="Inconsolata"/>
                <a:sym typeface="Inconsolata"/>
              </a:rPr>
              <a:t>...</a:t>
            </a:r>
            <a:endParaRPr sz="900">
              <a:solidFill>
                <a:srgbClr val="000000"/>
              </a:solidFill>
              <a:latin typeface="Inconsolata"/>
              <a:ea typeface="Inconsolata"/>
              <a:cs typeface="Inconsolata"/>
              <a:sym typeface="Inconsolata"/>
            </a:endParaRPr>
          </a:p>
          <a:p>
            <a:pPr indent="0" lvl="0" marL="0" rtl="0" algn="l">
              <a:spcBef>
                <a:spcPts val="0"/>
              </a:spcBef>
              <a:spcAft>
                <a:spcPts val="0"/>
              </a:spcAft>
              <a:buNone/>
            </a:pPr>
            <a:r>
              <a:t/>
            </a:r>
            <a:endParaRPr sz="900">
              <a:solidFill>
                <a:srgbClr val="000000"/>
              </a:solidFill>
              <a:latin typeface="Inconsolata"/>
              <a:ea typeface="Inconsolata"/>
              <a:cs typeface="Inconsolata"/>
              <a:sym typeface="Inconsolata"/>
            </a:endParaRPr>
          </a:p>
          <a:p>
            <a:pPr indent="0" lvl="0" marL="0" rtl="0" algn="l">
              <a:spcBef>
                <a:spcPts val="0"/>
              </a:spcBef>
              <a:spcAft>
                <a:spcPts val="0"/>
              </a:spcAft>
              <a:buNone/>
            </a:pPr>
            <a:r>
              <a:rPr lang="en" sz="900">
                <a:solidFill>
                  <a:srgbClr val="000000"/>
                </a:solidFill>
                <a:latin typeface="Inconsolata"/>
                <a:ea typeface="Inconsolata"/>
                <a:cs typeface="Inconsolata"/>
                <a:sym typeface="Inconsolata"/>
              </a:rPr>
              <a:t>Average cosine similarity value for query and evidences is  0.023 </a:t>
            </a:r>
            <a:endParaRPr sz="900">
              <a:solidFill>
                <a:srgbClr val="000000"/>
              </a:solidFill>
              <a:latin typeface="Inconsolata"/>
              <a:ea typeface="Inconsolata"/>
              <a:cs typeface="Inconsolata"/>
              <a:sym typeface="Inconsolata"/>
            </a:endParaRPr>
          </a:p>
          <a:p>
            <a:pPr indent="0" lvl="0" marL="0" rtl="0" algn="l">
              <a:spcBef>
                <a:spcPts val="0"/>
              </a:spcBef>
              <a:spcAft>
                <a:spcPts val="0"/>
              </a:spcAft>
              <a:buNone/>
            </a:pPr>
            <a:r>
              <a:rPr lang="en" sz="900">
                <a:solidFill>
                  <a:srgbClr val="000000"/>
                </a:solidFill>
                <a:latin typeface="Inconsolata"/>
                <a:ea typeface="Inconsolata"/>
                <a:cs typeface="Inconsolata"/>
                <a:sym typeface="Inconsolata"/>
              </a:rPr>
              <a:t>Negative 😞!, Content seems to be opposed by evidences</a:t>
            </a:r>
            <a:endParaRPr sz="900">
              <a:solidFill>
                <a:srgbClr val="000000"/>
              </a:solidFill>
              <a:latin typeface="Inconsolata"/>
              <a:ea typeface="Inconsolata"/>
              <a:cs typeface="Inconsolata"/>
              <a:sym typeface="Inconsolata"/>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6"/>
          <p:cNvSpPr txBox="1"/>
          <p:nvPr>
            <p:ph type="title"/>
          </p:nvPr>
        </p:nvSpPr>
        <p:spPr>
          <a:xfrm>
            <a:off x="729450" y="6560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Results</a:t>
            </a:r>
            <a:endParaRPr/>
          </a:p>
        </p:txBody>
      </p:sp>
      <p:sp>
        <p:nvSpPr>
          <p:cNvPr id="231" name="Google Shape;231;p36"/>
          <p:cNvSpPr txBox="1"/>
          <p:nvPr>
            <p:ph idx="1" type="body"/>
          </p:nvPr>
        </p:nvSpPr>
        <p:spPr>
          <a:xfrm>
            <a:off x="729450" y="1359500"/>
            <a:ext cx="7688700" cy="3500400"/>
          </a:xfrm>
          <a:prstGeom prst="rect">
            <a:avLst/>
          </a:prstGeom>
          <a:solidFill>
            <a:schemeClr val="lt2"/>
          </a:solidFill>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sz="900">
                <a:solidFill>
                  <a:srgbClr val="000000"/>
                </a:solidFill>
                <a:latin typeface="Inconsolata"/>
                <a:ea typeface="Inconsolata"/>
                <a:cs typeface="Inconsolata"/>
                <a:sym typeface="Inconsolata"/>
              </a:rPr>
              <a:t>Query Text :  </a:t>
            </a:r>
            <a:r>
              <a:rPr lang="en" sz="900">
                <a:solidFill>
                  <a:srgbClr val="000000"/>
                </a:solidFill>
                <a:latin typeface="Inconsolata"/>
                <a:ea typeface="Inconsolata"/>
                <a:cs typeface="Inconsolata"/>
                <a:sym typeface="Inconsolata"/>
              </a:rPr>
              <a:t>Walmart is announcing it is going to be accepting a cryptocurrency. But it's not Bitcoin, it's Litecoin is what they have chosen. In a news release, they're saying they've entered a major partnership with Litecoin.</a:t>
            </a:r>
            <a:endParaRPr sz="900">
              <a:solidFill>
                <a:srgbClr val="000000"/>
              </a:solidFill>
              <a:latin typeface="Inconsolata"/>
              <a:ea typeface="Inconsolata"/>
              <a:cs typeface="Inconsolata"/>
              <a:sym typeface="Inconsolata"/>
            </a:endParaRPr>
          </a:p>
          <a:p>
            <a:pPr indent="0" lvl="0" marL="0" rtl="0" algn="l">
              <a:spcBef>
                <a:spcPts val="0"/>
              </a:spcBef>
              <a:spcAft>
                <a:spcPts val="0"/>
              </a:spcAft>
              <a:buNone/>
            </a:pPr>
            <a:r>
              <a:rPr lang="en" sz="900">
                <a:solidFill>
                  <a:srgbClr val="000000"/>
                </a:solidFill>
                <a:latin typeface="Inconsolata"/>
                <a:ea typeface="Inconsolata"/>
                <a:cs typeface="Inconsolata"/>
                <a:sym typeface="Inconsolata"/>
              </a:rPr>
              <a:t>~~~~~~~~~~~~~~~~~~~~~~~~~~~~~~~~~~~Final results~~~~~~~~~~~~~~~~~~~~~~~~~~~~~~~~~~~~~~~~~</a:t>
            </a:r>
            <a:endParaRPr sz="900">
              <a:solidFill>
                <a:srgbClr val="000000"/>
              </a:solidFill>
              <a:latin typeface="Inconsolata"/>
              <a:ea typeface="Inconsolata"/>
              <a:cs typeface="Inconsolata"/>
              <a:sym typeface="Inconsolata"/>
            </a:endParaRPr>
          </a:p>
          <a:p>
            <a:pPr indent="0" lvl="0" marL="0" rtl="0" algn="l">
              <a:spcBef>
                <a:spcPts val="0"/>
              </a:spcBef>
              <a:spcAft>
                <a:spcPts val="0"/>
              </a:spcAft>
              <a:buNone/>
            </a:pPr>
            <a:r>
              <a:rPr lang="en" sz="900">
                <a:solidFill>
                  <a:srgbClr val="000000"/>
                </a:solidFill>
                <a:latin typeface="Inconsolata"/>
                <a:ea typeface="Inconsolata"/>
                <a:cs typeface="Inconsolata"/>
                <a:sym typeface="Inconsolata"/>
              </a:rPr>
              <a:t>Evidence  0 :  Walmart was the subject of a fake news release issued on Monday, Sept. 13, that falsely stated Walmart announced a partnership with Litecoin (LTC).Walmart had no knowledge of the press release issued by GlobeNewswire, and it is incorrect.</a:t>
            </a:r>
            <a:r>
              <a:rPr lang="en" sz="900">
                <a:solidFill>
                  <a:srgbClr val="000000"/>
                </a:solidFill>
                <a:latin typeface="Inconsolata"/>
                <a:ea typeface="Inconsolata"/>
                <a:cs typeface="Inconsolata"/>
                <a:sym typeface="Inconsolata"/>
              </a:rPr>
              <a:t> ...</a:t>
            </a:r>
            <a:endParaRPr sz="900">
              <a:solidFill>
                <a:srgbClr val="000000"/>
              </a:solidFill>
              <a:latin typeface="Inconsolata"/>
              <a:ea typeface="Inconsolata"/>
              <a:cs typeface="Inconsolata"/>
              <a:sym typeface="Inconsolata"/>
            </a:endParaRPr>
          </a:p>
          <a:p>
            <a:pPr indent="0" lvl="0" marL="0" rtl="0" algn="l">
              <a:spcBef>
                <a:spcPts val="0"/>
              </a:spcBef>
              <a:spcAft>
                <a:spcPts val="0"/>
              </a:spcAft>
              <a:buNone/>
            </a:pPr>
            <a:r>
              <a:rPr lang="en" sz="900">
                <a:solidFill>
                  <a:srgbClr val="000000"/>
                </a:solidFill>
                <a:latin typeface="Inconsolata"/>
                <a:ea typeface="Inconsolata"/>
                <a:cs typeface="Inconsolata"/>
                <a:sym typeface="Inconsolata"/>
              </a:rPr>
              <a:t>Url:  </a:t>
            </a:r>
            <a:r>
              <a:rPr lang="en" sz="900" u="sng">
                <a:solidFill>
                  <a:schemeClr val="hlink"/>
                </a:solidFill>
                <a:latin typeface="Inconsolata"/>
                <a:ea typeface="Inconsolata"/>
                <a:cs typeface="Inconsolata"/>
                <a:sym typeface="Inconsolata"/>
                <a:hlinkClick r:id="rId3"/>
              </a:rPr>
              <a:t>https://corporate.walmart.com/newsroom/2021/09/13/walmart-statement-in-response-to-fake-litecoin-press-release</a:t>
            </a:r>
            <a:r>
              <a:rPr lang="en" sz="900">
                <a:solidFill>
                  <a:srgbClr val="000000"/>
                </a:solidFill>
                <a:latin typeface="Inconsolata"/>
                <a:ea typeface="Inconsolata"/>
                <a:cs typeface="Inconsolata"/>
                <a:sym typeface="Inconsolata"/>
              </a:rPr>
              <a:t>  </a:t>
            </a:r>
            <a:endParaRPr sz="900">
              <a:solidFill>
                <a:srgbClr val="000000"/>
              </a:solidFill>
              <a:latin typeface="Inconsolata"/>
              <a:ea typeface="Inconsolata"/>
              <a:cs typeface="Inconsolata"/>
              <a:sym typeface="Inconsolata"/>
            </a:endParaRPr>
          </a:p>
          <a:p>
            <a:pPr indent="0" lvl="0" marL="0" rtl="0" algn="l">
              <a:spcBef>
                <a:spcPts val="0"/>
              </a:spcBef>
              <a:spcAft>
                <a:spcPts val="0"/>
              </a:spcAft>
              <a:buNone/>
            </a:pPr>
            <a:r>
              <a:rPr lang="en" sz="900">
                <a:solidFill>
                  <a:srgbClr val="000000"/>
                </a:solidFill>
                <a:latin typeface="Inconsolata"/>
                <a:ea typeface="Inconsolata"/>
                <a:cs typeface="Inconsolata"/>
                <a:sym typeface="Inconsolata"/>
              </a:rPr>
              <a:t>Cosine Value:  0.13488480530510094</a:t>
            </a:r>
            <a:endParaRPr sz="900">
              <a:solidFill>
                <a:srgbClr val="000000"/>
              </a:solidFill>
              <a:latin typeface="Inconsolata"/>
              <a:ea typeface="Inconsolata"/>
              <a:cs typeface="Inconsolata"/>
              <a:sym typeface="Inconsolata"/>
            </a:endParaRPr>
          </a:p>
          <a:p>
            <a:pPr indent="0" lvl="0" marL="0" rtl="0" algn="l">
              <a:spcBef>
                <a:spcPts val="0"/>
              </a:spcBef>
              <a:spcAft>
                <a:spcPts val="0"/>
              </a:spcAft>
              <a:buNone/>
            </a:pPr>
            <a:r>
              <a:t/>
            </a:r>
            <a:endParaRPr sz="900">
              <a:solidFill>
                <a:srgbClr val="000000"/>
              </a:solidFill>
              <a:latin typeface="Inconsolata"/>
              <a:ea typeface="Inconsolata"/>
              <a:cs typeface="Inconsolata"/>
              <a:sym typeface="Inconsolata"/>
            </a:endParaRPr>
          </a:p>
          <a:p>
            <a:pPr indent="0" lvl="0" marL="0" rtl="0" algn="l">
              <a:spcBef>
                <a:spcPts val="0"/>
              </a:spcBef>
              <a:spcAft>
                <a:spcPts val="0"/>
              </a:spcAft>
              <a:buNone/>
            </a:pPr>
            <a:r>
              <a:rPr lang="en" sz="900">
                <a:solidFill>
                  <a:srgbClr val="000000"/>
                </a:solidFill>
                <a:latin typeface="Inconsolata"/>
                <a:ea typeface="Inconsolata"/>
                <a:cs typeface="Inconsolata"/>
                <a:sym typeface="Inconsolata"/>
              </a:rPr>
              <a:t>Evidence  1 :  Cryptocurrency litecoin gave up a 20% gain and tumbled back to Earth following a fake press release sent out by GlobeNewswire that referenced a partnership with Walmart.Walmart spokesman Randy Hargrove confirmed that the press release is not authentic.He also said the retailer has been in touch with the newswire company to investigate how the false press release got </a:t>
            </a:r>
            <a:r>
              <a:rPr lang="en" sz="900">
                <a:solidFill>
                  <a:srgbClr val="000000"/>
                </a:solidFill>
                <a:latin typeface="Inconsolata"/>
                <a:ea typeface="Inconsolata"/>
                <a:cs typeface="Inconsolata"/>
                <a:sym typeface="Inconsolata"/>
              </a:rPr>
              <a:t>...</a:t>
            </a:r>
            <a:endParaRPr sz="900">
              <a:solidFill>
                <a:srgbClr val="000000"/>
              </a:solidFill>
              <a:latin typeface="Inconsolata"/>
              <a:ea typeface="Inconsolata"/>
              <a:cs typeface="Inconsolata"/>
              <a:sym typeface="Inconsolata"/>
            </a:endParaRPr>
          </a:p>
          <a:p>
            <a:pPr indent="0" lvl="0" marL="0" rtl="0" algn="l">
              <a:spcBef>
                <a:spcPts val="0"/>
              </a:spcBef>
              <a:spcAft>
                <a:spcPts val="0"/>
              </a:spcAft>
              <a:buNone/>
            </a:pPr>
            <a:r>
              <a:rPr lang="en" sz="900">
                <a:solidFill>
                  <a:srgbClr val="000000"/>
                </a:solidFill>
                <a:latin typeface="Inconsolata"/>
                <a:ea typeface="Inconsolata"/>
                <a:cs typeface="Inconsolata"/>
                <a:sym typeface="Inconsolata"/>
              </a:rPr>
              <a:t>Url:  </a:t>
            </a:r>
            <a:r>
              <a:rPr lang="en" sz="900" u="sng">
                <a:solidFill>
                  <a:schemeClr val="hlink"/>
                </a:solidFill>
                <a:latin typeface="Inconsolata"/>
                <a:ea typeface="Inconsolata"/>
                <a:cs typeface="Inconsolata"/>
                <a:sym typeface="Inconsolata"/>
                <a:hlinkClick r:id="rId4"/>
              </a:rPr>
              <a:t>https://www.cnbc.com/2021/09/13/walmart-to-accept-payments-with-cryptocurrencies-using-litecoin.html</a:t>
            </a:r>
            <a:r>
              <a:rPr lang="en" sz="900">
                <a:solidFill>
                  <a:srgbClr val="000000"/>
                </a:solidFill>
                <a:latin typeface="Inconsolata"/>
                <a:ea typeface="Inconsolata"/>
                <a:cs typeface="Inconsolata"/>
                <a:sym typeface="Inconsolata"/>
              </a:rPr>
              <a:t> </a:t>
            </a:r>
            <a:endParaRPr sz="900">
              <a:solidFill>
                <a:srgbClr val="000000"/>
              </a:solidFill>
              <a:latin typeface="Inconsolata"/>
              <a:ea typeface="Inconsolata"/>
              <a:cs typeface="Inconsolata"/>
              <a:sym typeface="Inconsolata"/>
            </a:endParaRPr>
          </a:p>
          <a:p>
            <a:pPr indent="0" lvl="0" marL="0" rtl="0" algn="l">
              <a:spcBef>
                <a:spcPts val="0"/>
              </a:spcBef>
              <a:spcAft>
                <a:spcPts val="0"/>
              </a:spcAft>
              <a:buNone/>
            </a:pPr>
            <a:r>
              <a:rPr lang="en" sz="900">
                <a:solidFill>
                  <a:srgbClr val="000000"/>
                </a:solidFill>
                <a:latin typeface="Inconsolata"/>
                <a:ea typeface="Inconsolata"/>
                <a:cs typeface="Inconsolata"/>
                <a:sym typeface="Inconsolata"/>
              </a:rPr>
              <a:t>Cosine Value:  0.05652246624051879</a:t>
            </a:r>
            <a:endParaRPr sz="900">
              <a:solidFill>
                <a:srgbClr val="000000"/>
              </a:solidFill>
              <a:latin typeface="Inconsolata"/>
              <a:ea typeface="Inconsolata"/>
              <a:cs typeface="Inconsolata"/>
              <a:sym typeface="Inconsolata"/>
            </a:endParaRPr>
          </a:p>
          <a:p>
            <a:pPr indent="0" lvl="0" marL="0" rtl="0" algn="l">
              <a:spcBef>
                <a:spcPts val="0"/>
              </a:spcBef>
              <a:spcAft>
                <a:spcPts val="0"/>
              </a:spcAft>
              <a:buNone/>
            </a:pPr>
            <a:r>
              <a:t/>
            </a:r>
            <a:endParaRPr sz="900">
              <a:solidFill>
                <a:srgbClr val="000000"/>
              </a:solidFill>
              <a:latin typeface="Inconsolata"/>
              <a:ea typeface="Inconsolata"/>
              <a:cs typeface="Inconsolata"/>
              <a:sym typeface="Inconsolata"/>
            </a:endParaRPr>
          </a:p>
          <a:p>
            <a:pPr indent="0" lvl="0" marL="0" rtl="0" algn="l">
              <a:spcBef>
                <a:spcPts val="0"/>
              </a:spcBef>
              <a:spcAft>
                <a:spcPts val="0"/>
              </a:spcAft>
              <a:buNone/>
            </a:pPr>
            <a:r>
              <a:rPr lang="en" sz="900">
                <a:solidFill>
                  <a:srgbClr val="000000"/>
                </a:solidFill>
                <a:latin typeface="Inconsolata"/>
                <a:ea typeface="Inconsolata"/>
                <a:cs typeface="Inconsolata"/>
                <a:sym typeface="Inconsolata"/>
              </a:rPr>
              <a:t>Evidence  2 :  A fake press statement released Monday claimed Walmart was partnering with the cryptocurrency Litecoin, leading to a brief but major stock gain for the company.The press release and the supposed merger was quickly revealed to be untrue, and its inauthenticity was confirmed by a Walmart spokesperson to CNBC.In the press release, the claim was made that Walmart—the biggest</a:t>
            </a:r>
            <a:r>
              <a:rPr lang="en" sz="900">
                <a:solidFill>
                  <a:srgbClr val="000000"/>
                </a:solidFill>
                <a:latin typeface="Inconsolata"/>
                <a:ea typeface="Inconsolata"/>
                <a:cs typeface="Inconsolata"/>
                <a:sym typeface="Inconsolata"/>
              </a:rPr>
              <a:t>...</a:t>
            </a:r>
            <a:endParaRPr sz="900">
              <a:solidFill>
                <a:srgbClr val="000000"/>
              </a:solidFill>
              <a:latin typeface="Inconsolata"/>
              <a:ea typeface="Inconsolata"/>
              <a:cs typeface="Inconsolata"/>
              <a:sym typeface="Inconsolata"/>
            </a:endParaRPr>
          </a:p>
          <a:p>
            <a:pPr indent="0" lvl="0" marL="0" rtl="0" algn="l">
              <a:spcBef>
                <a:spcPts val="0"/>
              </a:spcBef>
              <a:spcAft>
                <a:spcPts val="0"/>
              </a:spcAft>
              <a:buNone/>
            </a:pPr>
            <a:r>
              <a:rPr lang="en" sz="900">
                <a:solidFill>
                  <a:srgbClr val="000000"/>
                </a:solidFill>
                <a:latin typeface="Inconsolata"/>
                <a:ea typeface="Inconsolata"/>
                <a:cs typeface="Inconsolata"/>
                <a:sym typeface="Inconsolata"/>
              </a:rPr>
              <a:t>Url:  </a:t>
            </a:r>
            <a:r>
              <a:rPr lang="en" sz="900" u="sng">
                <a:solidFill>
                  <a:schemeClr val="hlink"/>
                </a:solidFill>
                <a:latin typeface="Inconsolata"/>
                <a:ea typeface="Inconsolata"/>
                <a:cs typeface="Inconsolata"/>
                <a:sym typeface="Inconsolata"/>
                <a:hlinkClick r:id="rId5"/>
              </a:rPr>
              <a:t>https://www.newsweek.com/fake-announcement-that-walmart-will-accept-litecoin-cryptocurrency-sends-stock-soaring-1628492</a:t>
            </a:r>
            <a:r>
              <a:rPr lang="en" sz="900">
                <a:solidFill>
                  <a:srgbClr val="000000"/>
                </a:solidFill>
                <a:latin typeface="Inconsolata"/>
                <a:ea typeface="Inconsolata"/>
                <a:cs typeface="Inconsolata"/>
                <a:sym typeface="Inconsolata"/>
              </a:rPr>
              <a:t> </a:t>
            </a:r>
            <a:endParaRPr sz="900">
              <a:solidFill>
                <a:srgbClr val="000000"/>
              </a:solidFill>
              <a:latin typeface="Inconsolata"/>
              <a:ea typeface="Inconsolata"/>
              <a:cs typeface="Inconsolata"/>
              <a:sym typeface="Inconsolata"/>
            </a:endParaRPr>
          </a:p>
          <a:p>
            <a:pPr indent="0" lvl="0" marL="0" rtl="0" algn="l">
              <a:spcBef>
                <a:spcPts val="0"/>
              </a:spcBef>
              <a:spcAft>
                <a:spcPts val="0"/>
              </a:spcAft>
              <a:buNone/>
            </a:pPr>
            <a:r>
              <a:rPr lang="en" sz="900">
                <a:solidFill>
                  <a:srgbClr val="000000"/>
                </a:solidFill>
                <a:latin typeface="Inconsolata"/>
                <a:ea typeface="Inconsolata"/>
                <a:cs typeface="Inconsolata"/>
                <a:sym typeface="Inconsolata"/>
              </a:rPr>
              <a:t>Cosine Value:  0.044645119573423736</a:t>
            </a:r>
            <a:endParaRPr sz="900">
              <a:solidFill>
                <a:srgbClr val="000000"/>
              </a:solidFill>
              <a:latin typeface="Inconsolata"/>
              <a:ea typeface="Inconsolata"/>
              <a:cs typeface="Inconsolata"/>
              <a:sym typeface="Inconsolata"/>
            </a:endParaRPr>
          </a:p>
          <a:p>
            <a:pPr indent="0" lvl="0" marL="0" rtl="0" algn="l">
              <a:spcBef>
                <a:spcPts val="0"/>
              </a:spcBef>
              <a:spcAft>
                <a:spcPts val="0"/>
              </a:spcAft>
              <a:buNone/>
            </a:pPr>
            <a:r>
              <a:rPr lang="en" sz="900">
                <a:solidFill>
                  <a:srgbClr val="000000"/>
                </a:solidFill>
                <a:latin typeface="Inconsolata"/>
                <a:ea typeface="Inconsolata"/>
                <a:cs typeface="Inconsolata"/>
                <a:sym typeface="Inconsolata"/>
              </a:rPr>
              <a:t>...</a:t>
            </a:r>
            <a:endParaRPr sz="900">
              <a:solidFill>
                <a:srgbClr val="000000"/>
              </a:solidFill>
              <a:latin typeface="Inconsolata"/>
              <a:ea typeface="Inconsolata"/>
              <a:cs typeface="Inconsolata"/>
              <a:sym typeface="Inconsolata"/>
            </a:endParaRPr>
          </a:p>
          <a:p>
            <a:pPr indent="0" lvl="0" marL="0" rtl="0" algn="l">
              <a:spcBef>
                <a:spcPts val="0"/>
              </a:spcBef>
              <a:spcAft>
                <a:spcPts val="0"/>
              </a:spcAft>
              <a:buNone/>
            </a:pPr>
            <a:r>
              <a:t/>
            </a:r>
            <a:endParaRPr sz="900">
              <a:solidFill>
                <a:srgbClr val="000000"/>
              </a:solidFill>
              <a:latin typeface="Inconsolata"/>
              <a:ea typeface="Inconsolata"/>
              <a:cs typeface="Inconsolata"/>
              <a:sym typeface="Inconsolata"/>
            </a:endParaRPr>
          </a:p>
          <a:p>
            <a:pPr indent="0" lvl="0" marL="0" rtl="0" algn="l">
              <a:spcBef>
                <a:spcPts val="0"/>
              </a:spcBef>
              <a:spcAft>
                <a:spcPts val="0"/>
              </a:spcAft>
              <a:buNone/>
            </a:pPr>
            <a:r>
              <a:rPr lang="en" sz="900">
                <a:solidFill>
                  <a:srgbClr val="000000"/>
                </a:solidFill>
                <a:latin typeface="Inconsolata"/>
                <a:ea typeface="Inconsolata"/>
                <a:cs typeface="Inconsolata"/>
                <a:sym typeface="Inconsolata"/>
              </a:rPr>
              <a:t>Average cosine similarity value for query and evidences is  </a:t>
            </a:r>
            <a:r>
              <a:rPr lang="en" sz="900">
                <a:solidFill>
                  <a:srgbClr val="000000"/>
                </a:solidFill>
                <a:latin typeface="Inconsolata"/>
                <a:ea typeface="Inconsolata"/>
                <a:cs typeface="Inconsolata"/>
                <a:sym typeface="Inconsolata"/>
              </a:rPr>
              <a:t>0.042</a:t>
            </a:r>
            <a:endParaRPr sz="900">
              <a:solidFill>
                <a:srgbClr val="000000"/>
              </a:solidFill>
              <a:latin typeface="Inconsolata"/>
              <a:ea typeface="Inconsolata"/>
              <a:cs typeface="Inconsolata"/>
              <a:sym typeface="Inconsolata"/>
            </a:endParaRPr>
          </a:p>
          <a:p>
            <a:pPr indent="0" lvl="0" marL="0" rtl="0" algn="l">
              <a:spcBef>
                <a:spcPts val="0"/>
              </a:spcBef>
              <a:spcAft>
                <a:spcPts val="0"/>
              </a:spcAft>
              <a:buNone/>
            </a:pPr>
            <a:r>
              <a:rPr lang="en" sz="900">
                <a:solidFill>
                  <a:srgbClr val="000000"/>
                </a:solidFill>
                <a:latin typeface="Inconsolata"/>
                <a:ea typeface="Inconsolata"/>
                <a:cs typeface="Inconsolata"/>
                <a:sym typeface="Inconsolata"/>
              </a:rPr>
              <a:t>Negative 😞!, Content seems to be opposed by evidences</a:t>
            </a:r>
            <a:endParaRPr sz="900">
              <a:solidFill>
                <a:srgbClr val="000000"/>
              </a:solidFill>
              <a:latin typeface="Inconsolata"/>
              <a:ea typeface="Inconsolata"/>
              <a:cs typeface="Inconsolata"/>
              <a:sym typeface="Inconsolata"/>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7"/>
          <p:cNvSpPr txBox="1"/>
          <p:nvPr>
            <p:ph type="title"/>
          </p:nvPr>
        </p:nvSpPr>
        <p:spPr>
          <a:xfrm>
            <a:off x="729450" y="6560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Results</a:t>
            </a:r>
            <a:endParaRPr/>
          </a:p>
        </p:txBody>
      </p:sp>
      <p:sp>
        <p:nvSpPr>
          <p:cNvPr id="237" name="Google Shape;237;p37"/>
          <p:cNvSpPr txBox="1"/>
          <p:nvPr>
            <p:ph idx="1" type="body"/>
          </p:nvPr>
        </p:nvSpPr>
        <p:spPr>
          <a:xfrm>
            <a:off x="729450" y="1359500"/>
            <a:ext cx="7688700" cy="3500400"/>
          </a:xfrm>
          <a:prstGeom prst="rect">
            <a:avLst/>
          </a:prstGeom>
          <a:solidFill>
            <a:schemeClr val="lt2"/>
          </a:solidFill>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sz="900">
                <a:solidFill>
                  <a:srgbClr val="000000"/>
                </a:solidFill>
                <a:latin typeface="Inconsolata"/>
                <a:ea typeface="Inconsolata"/>
                <a:cs typeface="Inconsolata"/>
                <a:sym typeface="Inconsolata"/>
              </a:rPr>
              <a:t>Query Text :  </a:t>
            </a:r>
            <a:r>
              <a:rPr lang="en" sz="900">
                <a:solidFill>
                  <a:srgbClr val="000000"/>
                </a:solidFill>
                <a:latin typeface="Inconsolata"/>
                <a:ea typeface="Inconsolata"/>
                <a:cs typeface="Inconsolata"/>
                <a:sym typeface="Inconsolata"/>
              </a:rPr>
              <a:t>MetaMask has formed a new strategic partnership with four major crypto custodians: Gnosis Safe, Hex Trust, GK8 and Parfin.</a:t>
            </a:r>
            <a:endParaRPr sz="900">
              <a:solidFill>
                <a:srgbClr val="000000"/>
              </a:solidFill>
              <a:latin typeface="Inconsolata"/>
              <a:ea typeface="Inconsolata"/>
              <a:cs typeface="Inconsolata"/>
              <a:sym typeface="Inconsolata"/>
            </a:endParaRPr>
          </a:p>
          <a:p>
            <a:pPr indent="0" lvl="0" marL="0" rtl="0" algn="l">
              <a:spcBef>
                <a:spcPts val="0"/>
              </a:spcBef>
              <a:spcAft>
                <a:spcPts val="0"/>
              </a:spcAft>
              <a:buNone/>
            </a:pPr>
            <a:r>
              <a:rPr lang="en" sz="900">
                <a:solidFill>
                  <a:srgbClr val="000000"/>
                </a:solidFill>
                <a:latin typeface="Inconsolata"/>
                <a:ea typeface="Inconsolata"/>
                <a:cs typeface="Inconsolata"/>
                <a:sym typeface="Inconsolata"/>
              </a:rPr>
              <a:t>~~~~~~~~~~~~~~~~~~~~~~~~~~~~~~~~~~~Final results~~~~~~~~~~~~~~~~~~~~~~~~~~~~~~~~~~~~~~~~~</a:t>
            </a:r>
            <a:endParaRPr sz="900">
              <a:solidFill>
                <a:srgbClr val="000000"/>
              </a:solidFill>
              <a:latin typeface="Inconsolata"/>
              <a:ea typeface="Inconsolata"/>
              <a:cs typeface="Inconsolata"/>
              <a:sym typeface="Inconsolata"/>
            </a:endParaRPr>
          </a:p>
          <a:p>
            <a:pPr indent="0" lvl="0" marL="0" rtl="0" algn="l">
              <a:spcBef>
                <a:spcPts val="0"/>
              </a:spcBef>
              <a:spcAft>
                <a:spcPts val="0"/>
              </a:spcAft>
              <a:buNone/>
            </a:pPr>
            <a:r>
              <a:rPr lang="en" sz="900">
                <a:solidFill>
                  <a:srgbClr val="000000"/>
                </a:solidFill>
                <a:latin typeface="Inconsolata"/>
                <a:ea typeface="Inconsolata"/>
                <a:cs typeface="Inconsolata"/>
                <a:sym typeface="Inconsolata"/>
              </a:rPr>
              <a:t>Evidence  0 :  MetaMask has formed a new strategic partnership with four major crypto custodians: Gnosis Safe, Hex Trust, GK8 and Parfin.Decentralized finance (DeFi) wallet and browser extension MetaMask formed a new strategic partnership with four major</a:t>
            </a:r>
            <a:r>
              <a:rPr lang="en" sz="900">
                <a:solidFill>
                  <a:srgbClr val="000000"/>
                </a:solidFill>
                <a:latin typeface="Inconsolata"/>
                <a:ea typeface="Inconsolata"/>
                <a:cs typeface="Inconsolata"/>
                <a:sym typeface="Inconsolata"/>
              </a:rPr>
              <a:t>...</a:t>
            </a:r>
            <a:endParaRPr sz="900">
              <a:solidFill>
                <a:srgbClr val="000000"/>
              </a:solidFill>
              <a:latin typeface="Inconsolata"/>
              <a:ea typeface="Inconsolata"/>
              <a:cs typeface="Inconsolata"/>
              <a:sym typeface="Inconsolata"/>
            </a:endParaRPr>
          </a:p>
          <a:p>
            <a:pPr indent="0" lvl="0" marL="0" rtl="0" algn="l">
              <a:spcBef>
                <a:spcPts val="0"/>
              </a:spcBef>
              <a:spcAft>
                <a:spcPts val="0"/>
              </a:spcAft>
              <a:buNone/>
            </a:pPr>
            <a:r>
              <a:rPr lang="en" sz="900">
                <a:solidFill>
                  <a:srgbClr val="000000"/>
                </a:solidFill>
                <a:latin typeface="Inconsolata"/>
                <a:ea typeface="Inconsolata"/>
                <a:cs typeface="Inconsolata"/>
                <a:sym typeface="Inconsolata"/>
              </a:rPr>
              <a:t>Url:  </a:t>
            </a:r>
            <a:r>
              <a:rPr lang="en" sz="900" u="sng">
                <a:solidFill>
                  <a:schemeClr val="hlink"/>
                </a:solidFill>
                <a:latin typeface="Inconsolata"/>
                <a:ea typeface="Inconsolata"/>
                <a:cs typeface="Inconsolata"/>
                <a:sym typeface="Inconsolata"/>
                <a:hlinkClick r:id="rId3"/>
              </a:rPr>
              <a:t>https://www.bitcoininsider.org/article/159867/metamask-expands-institutional-offering-integrating-new-crypto-custodians</a:t>
            </a:r>
            <a:r>
              <a:rPr lang="en" sz="900">
                <a:solidFill>
                  <a:srgbClr val="000000"/>
                </a:solidFill>
                <a:latin typeface="Inconsolata"/>
                <a:ea typeface="Inconsolata"/>
                <a:cs typeface="Inconsolata"/>
                <a:sym typeface="Inconsolata"/>
              </a:rPr>
              <a:t> </a:t>
            </a:r>
            <a:endParaRPr sz="900">
              <a:solidFill>
                <a:srgbClr val="000000"/>
              </a:solidFill>
              <a:latin typeface="Inconsolata"/>
              <a:ea typeface="Inconsolata"/>
              <a:cs typeface="Inconsolata"/>
              <a:sym typeface="Inconsolata"/>
            </a:endParaRPr>
          </a:p>
          <a:p>
            <a:pPr indent="0" lvl="0" marL="0" rtl="0" algn="l">
              <a:spcBef>
                <a:spcPts val="0"/>
              </a:spcBef>
              <a:spcAft>
                <a:spcPts val="0"/>
              </a:spcAft>
              <a:buNone/>
            </a:pPr>
            <a:r>
              <a:rPr lang="en" sz="900">
                <a:solidFill>
                  <a:srgbClr val="000000"/>
                </a:solidFill>
                <a:latin typeface="Inconsolata"/>
                <a:ea typeface="Inconsolata"/>
                <a:cs typeface="Inconsolata"/>
                <a:sym typeface="Inconsolata"/>
              </a:rPr>
              <a:t>Cosine Value:  0.17062060717946706</a:t>
            </a:r>
            <a:endParaRPr sz="900">
              <a:solidFill>
                <a:srgbClr val="000000"/>
              </a:solidFill>
              <a:latin typeface="Inconsolata"/>
              <a:ea typeface="Inconsolata"/>
              <a:cs typeface="Inconsolata"/>
              <a:sym typeface="Inconsolata"/>
            </a:endParaRPr>
          </a:p>
          <a:p>
            <a:pPr indent="0" lvl="0" marL="0" rtl="0" algn="l">
              <a:spcBef>
                <a:spcPts val="0"/>
              </a:spcBef>
              <a:spcAft>
                <a:spcPts val="0"/>
              </a:spcAft>
              <a:buNone/>
            </a:pPr>
            <a:r>
              <a:t/>
            </a:r>
            <a:endParaRPr sz="900">
              <a:solidFill>
                <a:srgbClr val="000000"/>
              </a:solidFill>
              <a:latin typeface="Inconsolata"/>
              <a:ea typeface="Inconsolata"/>
              <a:cs typeface="Inconsolata"/>
              <a:sym typeface="Inconsolata"/>
            </a:endParaRPr>
          </a:p>
          <a:p>
            <a:pPr indent="0" lvl="0" marL="0" rtl="0" algn="l">
              <a:spcBef>
                <a:spcPts val="0"/>
              </a:spcBef>
              <a:spcAft>
                <a:spcPts val="0"/>
              </a:spcAft>
              <a:buNone/>
            </a:pPr>
            <a:r>
              <a:rPr lang="en" sz="900">
                <a:solidFill>
                  <a:srgbClr val="000000"/>
                </a:solidFill>
                <a:latin typeface="Inconsolata"/>
                <a:ea typeface="Inconsolata"/>
                <a:cs typeface="Inconsolata"/>
                <a:sym typeface="Inconsolata"/>
              </a:rPr>
              <a:t>Evidence  1 :  MetaMask has formed new strategic partnerships with four major cryptocurrency custodians, namely Hex Trust, Paraffin, Gnosis Safe and GK8.This announcement follows active expansion efforts on the firm’s offerings undergone by MetaMask</a:t>
            </a:r>
            <a:r>
              <a:rPr lang="en" sz="900">
                <a:solidFill>
                  <a:srgbClr val="000000"/>
                </a:solidFill>
                <a:latin typeface="Inconsolata"/>
                <a:ea typeface="Inconsolata"/>
                <a:cs typeface="Inconsolata"/>
                <a:sym typeface="Inconsolata"/>
              </a:rPr>
              <a:t>...</a:t>
            </a:r>
            <a:endParaRPr sz="900">
              <a:solidFill>
                <a:srgbClr val="000000"/>
              </a:solidFill>
              <a:latin typeface="Inconsolata"/>
              <a:ea typeface="Inconsolata"/>
              <a:cs typeface="Inconsolata"/>
              <a:sym typeface="Inconsolata"/>
            </a:endParaRPr>
          </a:p>
          <a:p>
            <a:pPr indent="0" lvl="0" marL="0" rtl="0" algn="l">
              <a:spcBef>
                <a:spcPts val="0"/>
              </a:spcBef>
              <a:spcAft>
                <a:spcPts val="0"/>
              </a:spcAft>
              <a:buNone/>
            </a:pPr>
            <a:r>
              <a:rPr lang="en" sz="900">
                <a:solidFill>
                  <a:srgbClr val="000000"/>
                </a:solidFill>
                <a:latin typeface="Inconsolata"/>
                <a:ea typeface="Inconsolata"/>
                <a:cs typeface="Inconsolata"/>
                <a:sym typeface="Inconsolata"/>
              </a:rPr>
              <a:t>Url:  </a:t>
            </a:r>
            <a:r>
              <a:rPr lang="en" sz="900" u="sng">
                <a:solidFill>
                  <a:schemeClr val="hlink"/>
                </a:solidFill>
                <a:latin typeface="Inconsolata"/>
                <a:ea typeface="Inconsolata"/>
                <a:cs typeface="Inconsolata"/>
                <a:sym typeface="Inconsolata"/>
                <a:hlinkClick r:id="rId4"/>
              </a:rPr>
              <a:t>https://coinquora.com/metamask-integrates-with-crypto-custodians-to-expand-offerings/</a:t>
            </a:r>
            <a:r>
              <a:rPr lang="en" sz="900">
                <a:solidFill>
                  <a:srgbClr val="000000"/>
                </a:solidFill>
                <a:latin typeface="Inconsolata"/>
                <a:ea typeface="Inconsolata"/>
                <a:cs typeface="Inconsolata"/>
                <a:sym typeface="Inconsolata"/>
              </a:rPr>
              <a:t> </a:t>
            </a:r>
            <a:endParaRPr sz="900">
              <a:solidFill>
                <a:srgbClr val="000000"/>
              </a:solidFill>
              <a:latin typeface="Inconsolata"/>
              <a:ea typeface="Inconsolata"/>
              <a:cs typeface="Inconsolata"/>
              <a:sym typeface="Inconsolata"/>
            </a:endParaRPr>
          </a:p>
          <a:p>
            <a:pPr indent="0" lvl="0" marL="0" rtl="0" algn="l">
              <a:spcBef>
                <a:spcPts val="0"/>
              </a:spcBef>
              <a:spcAft>
                <a:spcPts val="0"/>
              </a:spcAft>
              <a:buNone/>
            </a:pPr>
            <a:r>
              <a:rPr lang="en" sz="900">
                <a:solidFill>
                  <a:srgbClr val="000000"/>
                </a:solidFill>
                <a:latin typeface="Inconsolata"/>
                <a:ea typeface="Inconsolata"/>
                <a:cs typeface="Inconsolata"/>
                <a:sym typeface="Inconsolata"/>
              </a:rPr>
              <a:t>Cosine Value:  0.1547151679517015</a:t>
            </a:r>
            <a:endParaRPr sz="900">
              <a:solidFill>
                <a:srgbClr val="000000"/>
              </a:solidFill>
              <a:latin typeface="Inconsolata"/>
              <a:ea typeface="Inconsolata"/>
              <a:cs typeface="Inconsolata"/>
              <a:sym typeface="Inconsolata"/>
            </a:endParaRPr>
          </a:p>
          <a:p>
            <a:pPr indent="0" lvl="0" marL="0" rtl="0" algn="l">
              <a:spcBef>
                <a:spcPts val="0"/>
              </a:spcBef>
              <a:spcAft>
                <a:spcPts val="0"/>
              </a:spcAft>
              <a:buNone/>
            </a:pPr>
            <a:r>
              <a:t/>
            </a:r>
            <a:endParaRPr sz="900">
              <a:solidFill>
                <a:srgbClr val="000000"/>
              </a:solidFill>
              <a:latin typeface="Inconsolata"/>
              <a:ea typeface="Inconsolata"/>
              <a:cs typeface="Inconsolata"/>
              <a:sym typeface="Inconsolata"/>
            </a:endParaRPr>
          </a:p>
          <a:p>
            <a:pPr indent="0" lvl="0" marL="0" rtl="0" algn="l">
              <a:spcBef>
                <a:spcPts val="0"/>
              </a:spcBef>
              <a:spcAft>
                <a:spcPts val="0"/>
              </a:spcAft>
              <a:buNone/>
            </a:pPr>
            <a:r>
              <a:rPr lang="en" sz="900">
                <a:solidFill>
                  <a:srgbClr val="000000"/>
                </a:solidFill>
                <a:latin typeface="Inconsolata"/>
                <a:ea typeface="Inconsolata"/>
                <a:cs typeface="Inconsolata"/>
                <a:sym typeface="Inconsolata"/>
              </a:rPr>
              <a:t>Evidence  2 :  MetaMask expands institutional offering by integrating new crypto custodians13 Aprile 2022 - 02:00PM CointelegraphMetaMask has formed a new strategic partnership with four major crypto custodians: Gnosis Safe, Hex Trust, GK8 and ...</a:t>
            </a:r>
            <a:endParaRPr sz="900">
              <a:solidFill>
                <a:srgbClr val="000000"/>
              </a:solidFill>
              <a:latin typeface="Inconsolata"/>
              <a:ea typeface="Inconsolata"/>
              <a:cs typeface="Inconsolata"/>
              <a:sym typeface="Inconsolata"/>
            </a:endParaRPr>
          </a:p>
          <a:p>
            <a:pPr indent="0" lvl="0" marL="0" rtl="0" algn="l">
              <a:spcBef>
                <a:spcPts val="0"/>
              </a:spcBef>
              <a:spcAft>
                <a:spcPts val="0"/>
              </a:spcAft>
              <a:buNone/>
            </a:pPr>
            <a:r>
              <a:rPr lang="en" sz="900">
                <a:solidFill>
                  <a:srgbClr val="000000"/>
                </a:solidFill>
                <a:latin typeface="Inconsolata"/>
                <a:ea typeface="Inconsolata"/>
                <a:cs typeface="Inconsolata"/>
                <a:sym typeface="Inconsolata"/>
              </a:rPr>
              <a:t>Url:  </a:t>
            </a:r>
            <a:r>
              <a:rPr lang="en" sz="900" u="sng">
                <a:solidFill>
                  <a:schemeClr val="hlink"/>
                </a:solidFill>
                <a:latin typeface="Inconsolata"/>
                <a:ea typeface="Inconsolata"/>
                <a:cs typeface="Inconsolata"/>
                <a:sym typeface="Inconsolata"/>
                <a:hlinkClick r:id="rId5"/>
              </a:rPr>
              <a:t>https://it.advfn.com/mercati/COIN/BTCUSD/crypto-news/87824170/metamask-expands-institutional-offering-by-integra</a:t>
            </a:r>
            <a:r>
              <a:rPr lang="en" sz="900">
                <a:solidFill>
                  <a:srgbClr val="000000"/>
                </a:solidFill>
                <a:latin typeface="Inconsolata"/>
                <a:ea typeface="Inconsolata"/>
                <a:cs typeface="Inconsolata"/>
                <a:sym typeface="Inconsolata"/>
              </a:rPr>
              <a:t>  </a:t>
            </a:r>
            <a:endParaRPr sz="900">
              <a:solidFill>
                <a:srgbClr val="000000"/>
              </a:solidFill>
              <a:latin typeface="Inconsolata"/>
              <a:ea typeface="Inconsolata"/>
              <a:cs typeface="Inconsolata"/>
              <a:sym typeface="Inconsolata"/>
            </a:endParaRPr>
          </a:p>
          <a:p>
            <a:pPr indent="0" lvl="0" marL="0" rtl="0" algn="l">
              <a:spcBef>
                <a:spcPts val="0"/>
              </a:spcBef>
              <a:spcAft>
                <a:spcPts val="0"/>
              </a:spcAft>
              <a:buNone/>
            </a:pPr>
            <a:r>
              <a:rPr lang="en" sz="900">
                <a:solidFill>
                  <a:srgbClr val="000000"/>
                </a:solidFill>
                <a:latin typeface="Inconsolata"/>
                <a:ea typeface="Inconsolata"/>
                <a:cs typeface="Inconsolata"/>
                <a:sym typeface="Inconsolata"/>
              </a:rPr>
              <a:t>Cosine Value:  0.12966830357745013</a:t>
            </a:r>
            <a:endParaRPr sz="900">
              <a:solidFill>
                <a:srgbClr val="000000"/>
              </a:solidFill>
              <a:latin typeface="Inconsolata"/>
              <a:ea typeface="Inconsolata"/>
              <a:cs typeface="Inconsolata"/>
              <a:sym typeface="Inconsolata"/>
            </a:endParaRPr>
          </a:p>
          <a:p>
            <a:pPr indent="0" lvl="0" marL="0" rtl="0" algn="l">
              <a:spcBef>
                <a:spcPts val="0"/>
              </a:spcBef>
              <a:spcAft>
                <a:spcPts val="0"/>
              </a:spcAft>
              <a:buNone/>
            </a:pPr>
            <a:r>
              <a:t/>
            </a:r>
            <a:endParaRPr sz="900">
              <a:solidFill>
                <a:srgbClr val="000000"/>
              </a:solidFill>
              <a:latin typeface="Inconsolata"/>
              <a:ea typeface="Inconsolata"/>
              <a:cs typeface="Inconsolata"/>
              <a:sym typeface="Inconsolata"/>
            </a:endParaRPr>
          </a:p>
          <a:p>
            <a:pPr indent="0" lvl="0" marL="0" rtl="0" algn="l">
              <a:spcBef>
                <a:spcPts val="0"/>
              </a:spcBef>
              <a:spcAft>
                <a:spcPts val="0"/>
              </a:spcAft>
              <a:buNone/>
            </a:pPr>
            <a:r>
              <a:rPr lang="en" sz="900">
                <a:solidFill>
                  <a:srgbClr val="000000"/>
                </a:solidFill>
                <a:latin typeface="Inconsolata"/>
                <a:ea typeface="Inconsolata"/>
                <a:cs typeface="Inconsolata"/>
                <a:sym typeface="Inconsolata"/>
              </a:rPr>
              <a:t>...</a:t>
            </a:r>
            <a:endParaRPr sz="900">
              <a:solidFill>
                <a:srgbClr val="000000"/>
              </a:solidFill>
              <a:latin typeface="Inconsolata"/>
              <a:ea typeface="Inconsolata"/>
              <a:cs typeface="Inconsolata"/>
              <a:sym typeface="Inconsolata"/>
            </a:endParaRPr>
          </a:p>
          <a:p>
            <a:pPr indent="0" lvl="0" marL="0" rtl="0" algn="l">
              <a:spcBef>
                <a:spcPts val="0"/>
              </a:spcBef>
              <a:spcAft>
                <a:spcPts val="0"/>
              </a:spcAft>
              <a:buNone/>
            </a:pPr>
            <a:r>
              <a:t/>
            </a:r>
            <a:endParaRPr sz="900">
              <a:solidFill>
                <a:srgbClr val="000000"/>
              </a:solidFill>
              <a:latin typeface="Inconsolata"/>
              <a:ea typeface="Inconsolata"/>
              <a:cs typeface="Inconsolata"/>
              <a:sym typeface="Inconsolata"/>
            </a:endParaRPr>
          </a:p>
          <a:p>
            <a:pPr indent="0" lvl="0" marL="0" rtl="0" algn="l">
              <a:spcBef>
                <a:spcPts val="0"/>
              </a:spcBef>
              <a:spcAft>
                <a:spcPts val="0"/>
              </a:spcAft>
              <a:buNone/>
            </a:pPr>
            <a:r>
              <a:rPr lang="en" sz="900">
                <a:solidFill>
                  <a:srgbClr val="000000"/>
                </a:solidFill>
                <a:latin typeface="Inconsolata"/>
                <a:ea typeface="Inconsolata"/>
                <a:cs typeface="Inconsolata"/>
                <a:sym typeface="Inconsolata"/>
              </a:rPr>
              <a:t>Average cosine similarity value for query and evidences is  0.083 </a:t>
            </a:r>
            <a:endParaRPr sz="900">
              <a:solidFill>
                <a:srgbClr val="000000"/>
              </a:solidFill>
              <a:latin typeface="Inconsolata"/>
              <a:ea typeface="Inconsolata"/>
              <a:cs typeface="Inconsolata"/>
              <a:sym typeface="Inconsolata"/>
            </a:endParaRPr>
          </a:p>
          <a:p>
            <a:pPr indent="0" lvl="0" marL="0" rtl="0" algn="l">
              <a:spcBef>
                <a:spcPts val="0"/>
              </a:spcBef>
              <a:spcAft>
                <a:spcPts val="0"/>
              </a:spcAft>
              <a:buNone/>
            </a:pPr>
            <a:r>
              <a:rPr lang="en" sz="900">
                <a:solidFill>
                  <a:srgbClr val="000000"/>
                </a:solidFill>
                <a:latin typeface="Inconsolata"/>
                <a:ea typeface="Inconsolata"/>
                <a:cs typeface="Inconsolata"/>
                <a:sym typeface="Inconsolata"/>
              </a:rPr>
              <a:t>Positive 😆!, Content seems to be supported by evidences</a:t>
            </a:r>
            <a:endParaRPr sz="900">
              <a:solidFill>
                <a:srgbClr val="000000"/>
              </a:solidFill>
              <a:latin typeface="Inconsolata"/>
              <a:ea typeface="Inconsolata"/>
              <a:cs typeface="Inconsolata"/>
              <a:sym typeface="Inconsolata"/>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8"/>
          <p:cNvSpPr txBox="1"/>
          <p:nvPr>
            <p:ph type="title"/>
          </p:nvPr>
        </p:nvSpPr>
        <p:spPr>
          <a:xfrm>
            <a:off x="729450" y="6560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Results</a:t>
            </a:r>
            <a:endParaRPr/>
          </a:p>
        </p:txBody>
      </p:sp>
      <p:sp>
        <p:nvSpPr>
          <p:cNvPr id="243" name="Google Shape;243;p38"/>
          <p:cNvSpPr txBox="1"/>
          <p:nvPr>
            <p:ph idx="1" type="body"/>
          </p:nvPr>
        </p:nvSpPr>
        <p:spPr>
          <a:xfrm>
            <a:off x="729450" y="1359500"/>
            <a:ext cx="7688700" cy="3500400"/>
          </a:xfrm>
          <a:prstGeom prst="rect">
            <a:avLst/>
          </a:prstGeom>
          <a:solidFill>
            <a:schemeClr val="lt2"/>
          </a:solidFill>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sz="900">
                <a:solidFill>
                  <a:srgbClr val="000000"/>
                </a:solidFill>
                <a:latin typeface="Inconsolata"/>
                <a:ea typeface="Inconsolata"/>
                <a:cs typeface="Inconsolata"/>
                <a:sym typeface="Inconsolata"/>
              </a:rPr>
              <a:t>Query Text :  COTI turns bullish after increased integration with the Cardano ecosystem and the upcoming launch of MultiDAG 2.0 and the Djed stablecoin reflect strengthening fundamentals.</a:t>
            </a:r>
            <a:endParaRPr sz="900">
              <a:solidFill>
                <a:srgbClr val="000000"/>
              </a:solidFill>
              <a:latin typeface="Inconsolata"/>
              <a:ea typeface="Inconsolata"/>
              <a:cs typeface="Inconsolata"/>
              <a:sym typeface="Inconsolata"/>
            </a:endParaRPr>
          </a:p>
          <a:p>
            <a:pPr indent="0" lvl="0" marL="0" rtl="0" algn="l">
              <a:spcBef>
                <a:spcPts val="0"/>
              </a:spcBef>
              <a:spcAft>
                <a:spcPts val="0"/>
              </a:spcAft>
              <a:buNone/>
            </a:pPr>
            <a:r>
              <a:rPr lang="en" sz="900">
                <a:solidFill>
                  <a:srgbClr val="000000"/>
                </a:solidFill>
                <a:latin typeface="Inconsolata"/>
                <a:ea typeface="Inconsolata"/>
                <a:cs typeface="Inconsolata"/>
                <a:sym typeface="Inconsolata"/>
              </a:rPr>
              <a:t>~~~~~~~~~~~~~~~~~~~~~~~~~~~~~~~~~~~Final results~~~~~~~~~~~~~~~~~~~~~~~~~~~~~~~~~~~~~~~~~</a:t>
            </a:r>
            <a:endParaRPr sz="900">
              <a:solidFill>
                <a:srgbClr val="000000"/>
              </a:solidFill>
              <a:latin typeface="Inconsolata"/>
              <a:ea typeface="Inconsolata"/>
              <a:cs typeface="Inconsolata"/>
              <a:sym typeface="Inconsolata"/>
            </a:endParaRPr>
          </a:p>
          <a:p>
            <a:pPr indent="0" lvl="0" marL="0" rtl="0" algn="l">
              <a:spcBef>
                <a:spcPts val="0"/>
              </a:spcBef>
              <a:spcAft>
                <a:spcPts val="0"/>
              </a:spcAft>
              <a:buNone/>
            </a:pPr>
            <a:r>
              <a:rPr lang="en" sz="900">
                <a:solidFill>
                  <a:srgbClr val="000000"/>
                </a:solidFill>
                <a:latin typeface="Inconsolata"/>
                <a:ea typeface="Inconsolata"/>
                <a:cs typeface="Inconsolata"/>
                <a:sym typeface="Inconsolata"/>
              </a:rPr>
              <a:t>Evidence  0 :  Development never stops in the fast-paced and competitive crypto sector and COTI is one project that is flashing some bullish signs.VORTECS™ charts from Cointelegraph Markets Pro show that COTI, an enterprise-grade financial technology platform focused on decentralized payments and digitization for any form of currency, could be on the verge of a breakout.The indicator...</a:t>
            </a:r>
            <a:endParaRPr sz="900">
              <a:solidFill>
                <a:srgbClr val="000000"/>
              </a:solidFill>
              <a:latin typeface="Inconsolata"/>
              <a:ea typeface="Inconsolata"/>
              <a:cs typeface="Inconsolata"/>
              <a:sym typeface="Inconsolata"/>
            </a:endParaRPr>
          </a:p>
          <a:p>
            <a:pPr indent="0" lvl="0" marL="0" rtl="0" algn="l">
              <a:spcBef>
                <a:spcPts val="0"/>
              </a:spcBef>
              <a:spcAft>
                <a:spcPts val="0"/>
              </a:spcAft>
              <a:buNone/>
            </a:pPr>
            <a:r>
              <a:rPr lang="en" sz="900">
                <a:solidFill>
                  <a:srgbClr val="000000"/>
                </a:solidFill>
                <a:latin typeface="Inconsolata"/>
                <a:ea typeface="Inconsolata"/>
                <a:cs typeface="Inconsolata"/>
                <a:sym typeface="Inconsolata"/>
              </a:rPr>
              <a:t>Url:  </a:t>
            </a:r>
            <a:r>
              <a:rPr lang="en" sz="900" u="sng">
                <a:solidFill>
                  <a:schemeClr val="hlink"/>
                </a:solidFill>
                <a:latin typeface="Inconsolata"/>
                <a:ea typeface="Inconsolata"/>
                <a:cs typeface="Inconsolata"/>
                <a:sym typeface="Inconsolata"/>
                <a:hlinkClick r:id="rId3"/>
              </a:rPr>
              <a:t>https://cointelegraph.com/news/indicators-flash-bullish-on-coti-ahead-of-its-mainnet-and-djed-stablecoin-launch</a:t>
            </a:r>
            <a:r>
              <a:rPr lang="en" sz="900">
                <a:solidFill>
                  <a:srgbClr val="000000"/>
                </a:solidFill>
                <a:latin typeface="Inconsolata"/>
                <a:ea typeface="Inconsolata"/>
                <a:cs typeface="Inconsolata"/>
                <a:sym typeface="Inconsolata"/>
              </a:rPr>
              <a:t> </a:t>
            </a:r>
            <a:endParaRPr sz="900">
              <a:solidFill>
                <a:srgbClr val="000000"/>
              </a:solidFill>
              <a:latin typeface="Inconsolata"/>
              <a:ea typeface="Inconsolata"/>
              <a:cs typeface="Inconsolata"/>
              <a:sym typeface="Inconsolata"/>
            </a:endParaRPr>
          </a:p>
          <a:p>
            <a:pPr indent="0" lvl="0" marL="0" rtl="0" algn="l">
              <a:spcBef>
                <a:spcPts val="0"/>
              </a:spcBef>
              <a:spcAft>
                <a:spcPts val="0"/>
              </a:spcAft>
              <a:buNone/>
            </a:pPr>
            <a:r>
              <a:rPr lang="en" sz="900">
                <a:solidFill>
                  <a:srgbClr val="000000"/>
                </a:solidFill>
                <a:latin typeface="Inconsolata"/>
                <a:ea typeface="Inconsolata"/>
                <a:cs typeface="Inconsolata"/>
                <a:sym typeface="Inconsolata"/>
              </a:rPr>
              <a:t>Cosine Value:  0.3272001834850179</a:t>
            </a:r>
            <a:endParaRPr sz="900">
              <a:solidFill>
                <a:srgbClr val="000000"/>
              </a:solidFill>
              <a:latin typeface="Inconsolata"/>
              <a:ea typeface="Inconsolata"/>
              <a:cs typeface="Inconsolata"/>
              <a:sym typeface="Inconsolata"/>
            </a:endParaRPr>
          </a:p>
          <a:p>
            <a:pPr indent="0" lvl="0" marL="0" rtl="0" algn="l">
              <a:spcBef>
                <a:spcPts val="0"/>
              </a:spcBef>
              <a:spcAft>
                <a:spcPts val="0"/>
              </a:spcAft>
              <a:buNone/>
            </a:pPr>
            <a:r>
              <a:t/>
            </a:r>
            <a:endParaRPr sz="900">
              <a:solidFill>
                <a:srgbClr val="000000"/>
              </a:solidFill>
              <a:latin typeface="Inconsolata"/>
              <a:ea typeface="Inconsolata"/>
              <a:cs typeface="Inconsolata"/>
              <a:sym typeface="Inconsolata"/>
            </a:endParaRPr>
          </a:p>
          <a:p>
            <a:pPr indent="0" lvl="0" marL="0" rtl="0" algn="l">
              <a:spcBef>
                <a:spcPts val="0"/>
              </a:spcBef>
              <a:spcAft>
                <a:spcPts val="0"/>
              </a:spcAft>
              <a:buNone/>
            </a:pPr>
            <a:r>
              <a:rPr lang="en" sz="900">
                <a:solidFill>
                  <a:srgbClr val="000000"/>
                </a:solidFill>
                <a:latin typeface="Inconsolata"/>
                <a:ea typeface="Inconsolata"/>
                <a:cs typeface="Inconsolata"/>
                <a:sym typeface="Inconsolata"/>
              </a:rPr>
              <a:t>Evidence  1 :  Quantstamp, DigitalBits and AirSwap climb higher as the wider market stagnates and traders take an early weekend in observance of Good Friday.Continue ReadingAltcoin WatchCryptocurrenciesMarketsmarkets pro COTI turns bullish after increased integration with the Cardano ecosystem and the upcoming launch of MultiDAG 2.0 and the Djed stablecoin reflect strengthening...</a:t>
            </a:r>
            <a:endParaRPr sz="900">
              <a:solidFill>
                <a:srgbClr val="000000"/>
              </a:solidFill>
              <a:latin typeface="Inconsolata"/>
              <a:ea typeface="Inconsolata"/>
              <a:cs typeface="Inconsolata"/>
              <a:sym typeface="Inconsolata"/>
            </a:endParaRPr>
          </a:p>
          <a:p>
            <a:pPr indent="0" lvl="0" marL="0" rtl="0" algn="l">
              <a:spcBef>
                <a:spcPts val="0"/>
              </a:spcBef>
              <a:spcAft>
                <a:spcPts val="0"/>
              </a:spcAft>
              <a:buNone/>
            </a:pPr>
            <a:r>
              <a:rPr lang="en" sz="900">
                <a:solidFill>
                  <a:srgbClr val="000000"/>
                </a:solidFill>
                <a:latin typeface="Inconsolata"/>
                <a:ea typeface="Inconsolata"/>
                <a:cs typeface="Inconsolata"/>
                <a:sym typeface="Inconsolata"/>
              </a:rPr>
              <a:t>Url:  </a:t>
            </a:r>
            <a:r>
              <a:rPr lang="en" sz="900" u="sng">
                <a:solidFill>
                  <a:schemeClr val="hlink"/>
                </a:solidFill>
                <a:latin typeface="Inconsolata"/>
                <a:ea typeface="Inconsolata"/>
                <a:cs typeface="Inconsolata"/>
                <a:sym typeface="Inconsolata"/>
                <a:hlinkClick r:id="rId4"/>
              </a:rPr>
              <a:t>https://bitcoinfeed.xyz/tag/markets-pro/</a:t>
            </a:r>
            <a:r>
              <a:rPr lang="en" sz="900">
                <a:solidFill>
                  <a:srgbClr val="000000"/>
                </a:solidFill>
                <a:latin typeface="Inconsolata"/>
                <a:ea typeface="Inconsolata"/>
                <a:cs typeface="Inconsolata"/>
                <a:sym typeface="Inconsolata"/>
              </a:rPr>
              <a:t> </a:t>
            </a:r>
            <a:endParaRPr sz="900">
              <a:solidFill>
                <a:srgbClr val="000000"/>
              </a:solidFill>
              <a:latin typeface="Inconsolata"/>
              <a:ea typeface="Inconsolata"/>
              <a:cs typeface="Inconsolata"/>
              <a:sym typeface="Inconsolata"/>
            </a:endParaRPr>
          </a:p>
          <a:p>
            <a:pPr indent="0" lvl="0" marL="0" rtl="0" algn="l">
              <a:spcBef>
                <a:spcPts val="0"/>
              </a:spcBef>
              <a:spcAft>
                <a:spcPts val="0"/>
              </a:spcAft>
              <a:buNone/>
            </a:pPr>
            <a:r>
              <a:rPr lang="en" sz="900">
                <a:solidFill>
                  <a:srgbClr val="000000"/>
                </a:solidFill>
                <a:latin typeface="Inconsolata"/>
                <a:ea typeface="Inconsolata"/>
                <a:cs typeface="Inconsolata"/>
                <a:sym typeface="Inconsolata"/>
              </a:rPr>
              <a:t>Cosine Value:  0.1714705835814072 </a:t>
            </a:r>
            <a:endParaRPr sz="900">
              <a:solidFill>
                <a:srgbClr val="000000"/>
              </a:solidFill>
              <a:latin typeface="Inconsolata"/>
              <a:ea typeface="Inconsolata"/>
              <a:cs typeface="Inconsolata"/>
              <a:sym typeface="Inconsolata"/>
            </a:endParaRPr>
          </a:p>
          <a:p>
            <a:pPr indent="0" lvl="0" marL="0" rtl="0" algn="l">
              <a:spcBef>
                <a:spcPts val="0"/>
              </a:spcBef>
              <a:spcAft>
                <a:spcPts val="0"/>
              </a:spcAft>
              <a:buNone/>
            </a:pPr>
            <a:r>
              <a:t/>
            </a:r>
            <a:endParaRPr sz="900">
              <a:solidFill>
                <a:srgbClr val="000000"/>
              </a:solidFill>
              <a:latin typeface="Inconsolata"/>
              <a:ea typeface="Inconsolata"/>
              <a:cs typeface="Inconsolata"/>
              <a:sym typeface="Inconsolata"/>
            </a:endParaRPr>
          </a:p>
          <a:p>
            <a:pPr indent="0" lvl="0" marL="0" rtl="0" algn="l">
              <a:spcBef>
                <a:spcPts val="0"/>
              </a:spcBef>
              <a:spcAft>
                <a:spcPts val="0"/>
              </a:spcAft>
              <a:buNone/>
            </a:pPr>
            <a:r>
              <a:rPr lang="en" sz="900">
                <a:solidFill>
                  <a:srgbClr val="000000"/>
                </a:solidFill>
                <a:latin typeface="Inconsolata"/>
                <a:ea typeface="Inconsolata"/>
                <a:cs typeface="Inconsolata"/>
                <a:sym typeface="Inconsolata"/>
              </a:rPr>
              <a:t>Evidence  2 :  Epoxy Composites Market was valued at USD 30.80 billion in 2021 and projected to grow at a CAGR of 6.32% during ... Pune India, April 22, 2022 (GLOBE NEWSWIRE) -- The market has been studied for the below mentioned-segmentation and regional...</a:t>
            </a:r>
            <a:endParaRPr sz="900">
              <a:solidFill>
                <a:srgbClr val="000000"/>
              </a:solidFill>
              <a:latin typeface="Inconsolata"/>
              <a:ea typeface="Inconsolata"/>
              <a:cs typeface="Inconsolata"/>
              <a:sym typeface="Inconsolata"/>
            </a:endParaRPr>
          </a:p>
          <a:p>
            <a:pPr indent="0" lvl="0" marL="0" rtl="0" algn="l">
              <a:spcBef>
                <a:spcPts val="0"/>
              </a:spcBef>
              <a:spcAft>
                <a:spcPts val="0"/>
              </a:spcAft>
              <a:buNone/>
            </a:pPr>
            <a:r>
              <a:rPr lang="en" sz="900">
                <a:solidFill>
                  <a:srgbClr val="000000"/>
                </a:solidFill>
                <a:latin typeface="Inconsolata"/>
                <a:ea typeface="Inconsolata"/>
                <a:cs typeface="Inconsolata"/>
                <a:sym typeface="Inconsolata"/>
              </a:rPr>
              <a:t>Url:  </a:t>
            </a:r>
            <a:r>
              <a:rPr lang="en" sz="900" u="sng">
                <a:solidFill>
                  <a:schemeClr val="hlink"/>
                </a:solidFill>
                <a:latin typeface="Inconsolata"/>
                <a:ea typeface="Inconsolata"/>
                <a:cs typeface="Inconsolata"/>
                <a:sym typeface="Inconsolata"/>
                <a:hlinkClick r:id="rId5"/>
              </a:rPr>
              <a:t>https://www.ehtrend.com.br/en/tt/7402224/revenue.html</a:t>
            </a:r>
            <a:r>
              <a:rPr lang="en" sz="900">
                <a:solidFill>
                  <a:srgbClr val="000000"/>
                </a:solidFill>
                <a:latin typeface="Inconsolata"/>
                <a:ea typeface="Inconsolata"/>
                <a:cs typeface="Inconsolata"/>
                <a:sym typeface="Inconsolata"/>
              </a:rPr>
              <a:t> </a:t>
            </a:r>
            <a:endParaRPr sz="900">
              <a:solidFill>
                <a:srgbClr val="000000"/>
              </a:solidFill>
              <a:latin typeface="Inconsolata"/>
              <a:ea typeface="Inconsolata"/>
              <a:cs typeface="Inconsolata"/>
              <a:sym typeface="Inconsolata"/>
            </a:endParaRPr>
          </a:p>
          <a:p>
            <a:pPr indent="0" lvl="0" marL="0" rtl="0" algn="l">
              <a:spcBef>
                <a:spcPts val="0"/>
              </a:spcBef>
              <a:spcAft>
                <a:spcPts val="0"/>
              </a:spcAft>
              <a:buNone/>
            </a:pPr>
            <a:r>
              <a:rPr lang="en" sz="900">
                <a:solidFill>
                  <a:srgbClr val="000000"/>
                </a:solidFill>
                <a:latin typeface="Inconsolata"/>
                <a:ea typeface="Inconsolata"/>
                <a:cs typeface="Inconsolata"/>
                <a:sym typeface="Inconsolata"/>
              </a:rPr>
              <a:t>Cosine Value:  0.08058385859573304</a:t>
            </a:r>
            <a:endParaRPr sz="900">
              <a:solidFill>
                <a:srgbClr val="000000"/>
              </a:solidFill>
              <a:latin typeface="Inconsolata"/>
              <a:ea typeface="Inconsolata"/>
              <a:cs typeface="Inconsolata"/>
              <a:sym typeface="Inconsolata"/>
            </a:endParaRPr>
          </a:p>
          <a:p>
            <a:pPr indent="0" lvl="0" marL="0" rtl="0" algn="l">
              <a:spcBef>
                <a:spcPts val="0"/>
              </a:spcBef>
              <a:spcAft>
                <a:spcPts val="0"/>
              </a:spcAft>
              <a:buNone/>
            </a:pPr>
            <a:r>
              <a:rPr lang="en" sz="900">
                <a:solidFill>
                  <a:srgbClr val="000000"/>
                </a:solidFill>
                <a:latin typeface="Inconsolata"/>
                <a:ea typeface="Inconsolata"/>
                <a:cs typeface="Inconsolata"/>
                <a:sym typeface="Inconsolata"/>
              </a:rPr>
              <a:t>...</a:t>
            </a:r>
            <a:endParaRPr sz="900">
              <a:solidFill>
                <a:srgbClr val="000000"/>
              </a:solidFill>
              <a:latin typeface="Inconsolata"/>
              <a:ea typeface="Inconsolata"/>
              <a:cs typeface="Inconsolata"/>
              <a:sym typeface="Inconsolata"/>
            </a:endParaRPr>
          </a:p>
          <a:p>
            <a:pPr indent="0" lvl="0" marL="0" rtl="0" algn="l">
              <a:spcBef>
                <a:spcPts val="0"/>
              </a:spcBef>
              <a:spcAft>
                <a:spcPts val="0"/>
              </a:spcAft>
              <a:buNone/>
            </a:pPr>
            <a:r>
              <a:t/>
            </a:r>
            <a:endParaRPr sz="900">
              <a:solidFill>
                <a:srgbClr val="000000"/>
              </a:solidFill>
              <a:latin typeface="Inconsolata"/>
              <a:ea typeface="Inconsolata"/>
              <a:cs typeface="Inconsolata"/>
              <a:sym typeface="Inconsolata"/>
            </a:endParaRPr>
          </a:p>
          <a:p>
            <a:pPr indent="0" lvl="0" marL="0" rtl="0" algn="l">
              <a:spcBef>
                <a:spcPts val="0"/>
              </a:spcBef>
              <a:spcAft>
                <a:spcPts val="0"/>
              </a:spcAft>
              <a:buNone/>
            </a:pPr>
            <a:r>
              <a:rPr lang="en" sz="900">
                <a:solidFill>
                  <a:srgbClr val="000000"/>
                </a:solidFill>
                <a:latin typeface="Inconsolata"/>
                <a:ea typeface="Inconsolata"/>
                <a:cs typeface="Inconsolata"/>
                <a:sym typeface="Inconsolata"/>
              </a:rPr>
              <a:t>Average cosine similarity value for query and evidences is  0.108 </a:t>
            </a:r>
            <a:endParaRPr sz="900">
              <a:solidFill>
                <a:srgbClr val="000000"/>
              </a:solidFill>
              <a:latin typeface="Inconsolata"/>
              <a:ea typeface="Inconsolata"/>
              <a:cs typeface="Inconsolata"/>
              <a:sym typeface="Inconsolata"/>
            </a:endParaRPr>
          </a:p>
          <a:p>
            <a:pPr indent="0" lvl="0" marL="0" rtl="0" algn="l">
              <a:spcBef>
                <a:spcPts val="0"/>
              </a:spcBef>
              <a:spcAft>
                <a:spcPts val="0"/>
              </a:spcAft>
              <a:buNone/>
            </a:pPr>
            <a:r>
              <a:rPr lang="en" sz="900">
                <a:solidFill>
                  <a:srgbClr val="000000"/>
                </a:solidFill>
                <a:latin typeface="Inconsolata"/>
                <a:ea typeface="Inconsolata"/>
                <a:cs typeface="Inconsolata"/>
                <a:sym typeface="Inconsolata"/>
              </a:rPr>
              <a:t>Positive 😆!, Content seems to be supported by evidences</a:t>
            </a:r>
            <a:endParaRPr sz="900">
              <a:solidFill>
                <a:srgbClr val="000000"/>
              </a:solidFill>
              <a:latin typeface="Inconsolata"/>
              <a:ea typeface="Inconsolata"/>
              <a:cs typeface="Inconsolata"/>
              <a:sym typeface="Inconsolata"/>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9"/>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Future Scope</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40"/>
          <p:cNvSpPr txBox="1"/>
          <p:nvPr>
            <p:ph type="title"/>
          </p:nvPr>
        </p:nvSpPr>
        <p:spPr>
          <a:xfrm>
            <a:off x="729450" y="6560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Future Scope</a:t>
            </a:r>
            <a:endParaRPr/>
          </a:p>
        </p:txBody>
      </p:sp>
      <p:sp>
        <p:nvSpPr>
          <p:cNvPr id="254" name="Google Shape;254;p40"/>
          <p:cNvSpPr txBox="1"/>
          <p:nvPr>
            <p:ph idx="1" type="body"/>
          </p:nvPr>
        </p:nvSpPr>
        <p:spPr>
          <a:xfrm>
            <a:off x="729450" y="1359500"/>
            <a:ext cx="7688700" cy="29805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SzPts val="1500"/>
              <a:buChar char="●"/>
            </a:pPr>
            <a:r>
              <a:rPr lang="en"/>
              <a:t>Adding more knowledge bases, such as Twitter and Etherscan, as we only got around to using Google search to find evidence.</a:t>
            </a:r>
            <a:endParaRPr/>
          </a:p>
          <a:p>
            <a:pPr indent="-323850" lvl="0" marL="457200" rtl="0" algn="l">
              <a:spcBef>
                <a:spcPts val="0"/>
              </a:spcBef>
              <a:spcAft>
                <a:spcPts val="0"/>
              </a:spcAft>
              <a:buSzPts val="1500"/>
              <a:buChar char="●"/>
            </a:pPr>
            <a:r>
              <a:rPr lang="en"/>
              <a:t>Using transactional data based on user requested query as a weighted parameter.</a:t>
            </a:r>
            <a:endParaRPr/>
          </a:p>
          <a:p>
            <a:pPr indent="-323850" lvl="0" marL="457200" rtl="0" algn="l">
              <a:spcBef>
                <a:spcPts val="0"/>
              </a:spcBef>
              <a:spcAft>
                <a:spcPts val="0"/>
              </a:spcAft>
              <a:buSzPts val="1500"/>
              <a:buChar char="●"/>
            </a:pPr>
            <a:r>
              <a:rPr lang="en"/>
              <a:t>Extending further to use expert-based suggestions as a weighted parameter for the results</a:t>
            </a:r>
            <a:r>
              <a:rPr lang="en"/>
              <a:t>.</a:t>
            </a:r>
            <a:endParaRPr/>
          </a:p>
          <a:p>
            <a:pPr indent="-323850" lvl="0" marL="457200" rtl="0" algn="l">
              <a:spcBef>
                <a:spcPts val="0"/>
              </a:spcBef>
              <a:spcAft>
                <a:spcPts val="0"/>
              </a:spcAft>
              <a:buSzPts val="1500"/>
              <a:buChar char="●"/>
            </a:pPr>
            <a:r>
              <a:rPr lang="en"/>
              <a:t>Applying machine learning models to filter evidences.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41"/>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